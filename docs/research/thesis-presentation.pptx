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5" Type="http://schemas.openxmlformats.org/officeDocument/2006/relationships/image" Target="../media/image2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423C"/>
          </a:solidFill>
          <a:ln>
            <a:solidFill>
              <a:srgbClr val="B6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ep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38912"/>
            <a:ext cx="960120" cy="1051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55648" y="566928"/>
            <a:ext cx="42062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>
                <a:solidFill>
                  <a:srgbClr val="087F8C"/>
                </a:solidFill>
                <a:latin typeface="Arial"/>
              </a:rPr>
              <a:t>M.TECH THESIS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10744200" cy="20116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800" b="1">
                <a:solidFill>
                  <a:srgbClr val="17324D"/>
                </a:solidFill>
                <a:latin typeface="Arial"/>
              </a:rPr>
              <a:t>Design and Verification of a Lightweight</a:t>
            </a:r>
            <a:br/>
            <a:r>
              <a:rPr sz="2800" b="1">
                <a:solidFill>
                  <a:srgbClr val="17324D"/>
                </a:solidFill>
                <a:latin typeface="Arial"/>
              </a:rPr>
              <a:t>RISC-V-Based IoT Security Processor with</a:t>
            </a:r>
            <a:br/>
            <a:r>
              <a:rPr sz="2800" b="1">
                <a:solidFill>
                  <a:srgbClr val="17324D"/>
                </a:solidFill>
                <a:latin typeface="Arial"/>
              </a:rPr>
              <a:t>Iterative Hardware-Reusable AES 128</a:t>
            </a:r>
          </a:p>
        </p:txBody>
      </p:sp>
      <p:sp>
        <p:nvSpPr>
          <p:cNvPr id="7" name="Rectangle 6"/>
          <p:cNvSpPr/>
          <p:nvPr/>
        </p:nvSpPr>
        <p:spPr>
          <a:xfrm>
            <a:off x="5175504" y="3621024"/>
            <a:ext cx="1828800" cy="54864"/>
          </a:xfrm>
          <a:prstGeom prst="rect">
            <a:avLst/>
          </a:prstGeom>
          <a:solidFill>
            <a:srgbClr val="B6423C"/>
          </a:solidFill>
          <a:ln>
            <a:solidFill>
              <a:srgbClr val="B6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3886200"/>
            <a:ext cx="78181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700" b="1">
                <a:solidFill>
                  <a:srgbClr val="1D2730"/>
                </a:solidFill>
                <a:latin typeface="Arial"/>
              </a:rPr>
              <a:t>Varada Inamdar  |  MIS 712438020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4389120"/>
            <a:ext cx="78181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300" b="0">
                <a:solidFill>
                  <a:srgbClr val="607080"/>
                </a:solidFill>
                <a:latin typeface="Arial"/>
              </a:rPr>
              <a:t>Guide: Dr. Ashwini Kulkarni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892040"/>
            <a:ext cx="99212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0">
                <a:solidFill>
                  <a:srgbClr val="607080"/>
                </a:solidFill>
                <a:latin typeface="Arial"/>
              </a:rPr>
              <a:t>VLSI Design · Department of Electronics and Telecommunication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5257800"/>
            <a:ext cx="99212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1">
                <a:solidFill>
                  <a:srgbClr val="17324D"/>
                </a:solidFill>
                <a:latin typeface="Arial"/>
              </a:rPr>
              <a:t>COEP Technological University, Pune  |  2024–26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FFFFFF"/>
                </a:solidFill>
                <a:latin typeface="Arial"/>
              </a:rPr>
              <a:t>Iterative AES research → processor integration → end-to-end secure telemetry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087F8C"/>
                </a:solidFill>
                <a:latin typeface="Arial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17324D"/>
                </a:solidFill>
                <a:latin typeface="Arial"/>
              </a:rPr>
              <a:t>Why edge security is difficult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713232" cy="50292"/>
          </a:xfrm>
          <a:prstGeom prst="rect">
            <a:avLst/>
          </a:prstGeom>
          <a:solidFill>
            <a:srgbClr val="B6423C"/>
          </a:solidFill>
          <a:ln>
            <a:solidFill>
              <a:srgbClr val="B6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11480" y="6473952"/>
            <a:ext cx="11365992" cy="0"/>
          </a:xfrm>
          <a:prstGeom prst="line">
            <a:avLst/>
          </a:prstGeom>
          <a:ln w="1016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oep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6510528"/>
            <a:ext cx="256032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519672"/>
            <a:ext cx="292608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>
                <a:solidFill>
                  <a:srgbClr val="607080"/>
                </a:solidFill>
                <a:latin typeface="Arial"/>
              </a:rPr>
              <a:t>COEP Technological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6519672"/>
            <a:ext cx="3931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607080"/>
                </a:solidFill>
                <a:latin typeface="Arial"/>
              </a:rPr>
              <a:t>M.Tech Thesis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95000"/>
              </a:lnSpc>
            </a:pPr>
            <a:r>
              <a:rPr sz="900" b="1">
                <a:solidFill>
                  <a:srgbClr val="17324D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014984"/>
            <a:ext cx="1031443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600" b="1">
                <a:solidFill>
                  <a:srgbClr val="17324D"/>
                </a:solidFill>
                <a:latin typeface="Arial"/>
              </a:rPr>
              <a:t>Vehicle telemetry needs protection under tight area, power, and timing budgets.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572768"/>
            <a:ext cx="5047488" cy="3529584"/>
          </a:xfrm>
          <a:prstGeom prst="roundRect">
            <a:avLst/>
          </a:prstGeom>
          <a:solidFill>
            <a:srgbClr val="F8EEEE"/>
          </a:solidFill>
          <a:ln>
            <a:solidFill>
              <a:srgbClr val="E4C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1874519"/>
            <a:ext cx="640080" cy="640080"/>
          </a:xfrm>
          <a:prstGeom prst="ellipse">
            <a:avLst/>
          </a:prstGeom>
          <a:solidFill>
            <a:srgbClr val="B6423C"/>
          </a:solidFill>
          <a:ln>
            <a:solidFill>
              <a:srgbClr val="B6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7451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0512" y="1938528"/>
            <a:ext cx="327355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900" b="1">
                <a:solidFill>
                  <a:srgbClr val="B6423C"/>
                </a:solidFill>
                <a:latin typeface="Arial"/>
              </a:rPr>
              <a:t>SECURITY PRESSURE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2761488"/>
            <a:ext cx="1170432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" y="2898648"/>
            <a:ext cx="8961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1">
                <a:solidFill>
                  <a:srgbClr val="17324D"/>
                </a:solidFill>
                <a:latin typeface="Arial"/>
              </a:rPr>
              <a:t>SENSOR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3191256"/>
            <a:ext cx="896112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19" b="0">
                <a:solidFill>
                  <a:srgbClr val="607080"/>
                </a:solidFill>
                <a:latin typeface="Arial"/>
              </a:rPr>
              <a:t>IMU · speed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359152" y="2971800"/>
            <a:ext cx="658368" cy="320040"/>
          </a:xfrm>
          <a:prstGeom prst="rightArrow">
            <a:avLst/>
          </a:prstGeom>
          <a:solidFill>
            <a:srgbClr val="B6423C"/>
          </a:solidFill>
          <a:ln>
            <a:solidFill>
              <a:srgbClr val="B6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182112" y="2670048"/>
            <a:ext cx="155448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B6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55848" y="2834640"/>
            <a:ext cx="120700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1">
                <a:solidFill>
                  <a:srgbClr val="B6423C"/>
                </a:solidFill>
                <a:latin typeface="Arial"/>
              </a:rPr>
              <a:t>RAW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5848" y="3172968"/>
            <a:ext cx="120700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80" b="0">
                <a:solidFill>
                  <a:srgbClr val="607080"/>
                </a:solidFill>
                <a:latin typeface="Arial"/>
              </a:rPr>
              <a:t>visible on link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4050791"/>
            <a:ext cx="118872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087368"/>
            <a:ext cx="1097280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B6423C"/>
                </a:solidFill>
                <a:latin typeface="Arial"/>
              </a:rPr>
              <a:t>READ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50592" y="4050791"/>
            <a:ext cx="118872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96312" y="4087368"/>
            <a:ext cx="1097280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B6423C"/>
                </a:solidFill>
                <a:latin typeface="Arial"/>
              </a:rPr>
              <a:t>REPLAY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95344" y="4050791"/>
            <a:ext cx="118872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41063" y="4087368"/>
            <a:ext cx="1097280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B6423C"/>
                </a:solidFill>
                <a:latin typeface="Arial"/>
              </a:rPr>
              <a:t>ALTER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572000"/>
            <a:ext cx="443484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1D2730"/>
                </a:solidFill>
                <a:latin typeface="Arial"/>
              </a:rPr>
              <a:t>One false or exposed record can affect trust in downstream decisions.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73952" y="1572768"/>
            <a:ext cx="5047488" cy="3529584"/>
          </a:xfrm>
          <a:prstGeom prst="roundRect">
            <a:avLst/>
          </a:prstGeom>
          <a:solidFill>
            <a:srgbClr val="EDF4F8"/>
          </a:solidFill>
          <a:ln>
            <a:solidFill>
              <a:srgbClr val="C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21424" y="1874519"/>
            <a:ext cx="640080" cy="640080"/>
          </a:xfrm>
          <a:prstGeom prst="ellipse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21424" y="1874519"/>
            <a:ext cx="6400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200" b="1">
                <a:solidFill>
                  <a:srgbClr val="FFFFFF"/>
                </a:solidFill>
                <a:latin typeface="Arial"/>
              </a:rPr>
              <a:t>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6096" y="1938528"/>
            <a:ext cx="327355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900" b="1">
                <a:solidFill>
                  <a:srgbClr val="17324D"/>
                </a:solidFill>
                <a:latin typeface="Arial"/>
              </a:rPr>
              <a:t>EDGE CONSTRAINTS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30568" y="2761488"/>
            <a:ext cx="1261872" cy="1408176"/>
          </a:xfrm>
          <a:prstGeom prst="roundRect">
            <a:avLst/>
          </a:prstGeom>
          <a:solidFill>
            <a:srgbClr val="FFFFFF"/>
          </a:solidFill>
          <a:ln>
            <a:solidFill>
              <a:srgbClr val="CE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196328" y="2944368"/>
            <a:ext cx="530352" cy="530352"/>
          </a:xfrm>
          <a:prstGeom prst="ellipse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96328" y="2944368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2007" y="3575304"/>
            <a:ext cx="107899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17324D"/>
                </a:solidFill>
                <a:latin typeface="Arial"/>
              </a:rPr>
              <a:t>AREA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22007" y="3822191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90" b="0">
                <a:solidFill>
                  <a:srgbClr val="607080"/>
                </a:solidFill>
                <a:latin typeface="Arial"/>
              </a:rPr>
              <a:t>small FPGA / ASIC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21040" y="2761488"/>
            <a:ext cx="1261872" cy="1408176"/>
          </a:xfrm>
          <a:prstGeom prst="roundRect">
            <a:avLst/>
          </a:prstGeom>
          <a:solidFill>
            <a:srgbClr val="FFFFFF"/>
          </a:solidFill>
          <a:ln>
            <a:solidFill>
              <a:srgbClr val="CE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686800" y="2944368"/>
            <a:ext cx="530352" cy="530352"/>
          </a:xfrm>
          <a:prstGeom prst="ellipse">
            <a:avLst/>
          </a:prstGeom>
          <a:solidFill>
            <a:srgbClr val="D6A23B"/>
          </a:solidFill>
          <a:ln>
            <a:solidFill>
              <a:srgbClr val="D6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0" y="2944368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3575304"/>
            <a:ext cx="107899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17324D"/>
                </a:solidFill>
                <a:latin typeface="Arial"/>
              </a:rPr>
              <a:t>POWER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3822191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90" b="0">
                <a:solidFill>
                  <a:srgbClr val="607080"/>
                </a:solidFill>
                <a:latin typeface="Arial"/>
              </a:rPr>
              <a:t>limited activity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811512" y="2761488"/>
            <a:ext cx="1261872" cy="1408176"/>
          </a:xfrm>
          <a:prstGeom prst="roundRect">
            <a:avLst/>
          </a:prstGeom>
          <a:solidFill>
            <a:srgbClr val="FFFFFF"/>
          </a:solidFill>
          <a:ln>
            <a:solidFill>
              <a:srgbClr val="CE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177272" y="2944368"/>
            <a:ext cx="530352" cy="530352"/>
          </a:xfrm>
          <a:prstGeom prst="ellipse">
            <a:avLst/>
          </a:prstGeom>
          <a:solidFill>
            <a:srgbClr val="2D7D5B"/>
          </a:solidFill>
          <a:ln>
            <a:solidFill>
              <a:srgbClr val="2D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77272" y="2944368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02952" y="3575304"/>
            <a:ext cx="107899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17324D"/>
                </a:solidFill>
                <a:latin typeface="Arial"/>
              </a:rPr>
              <a:t>TIME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02952" y="3822191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90" b="0">
                <a:solidFill>
                  <a:srgbClr val="607080"/>
                </a:solidFill>
                <a:latin typeface="Arial"/>
              </a:rPr>
              <a:t>real-time response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93992" y="4572000"/>
            <a:ext cx="443484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1D2730"/>
                </a:solidFill>
                <a:latin typeface="Arial"/>
              </a:rPr>
              <a:t>Security cannot consume the resources needed by the sensing task.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182112" y="5120640"/>
            <a:ext cx="1389888" cy="420624"/>
          </a:xfrm>
          <a:prstGeom prst="line">
            <a:avLst/>
          </a:prstGeom>
          <a:ln w="26670">
            <a:solidFill>
              <a:srgbClr val="B64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7607808" y="5120640"/>
            <a:ext cx="1389888" cy="420624"/>
          </a:xfrm>
          <a:prstGeom prst="line">
            <a:avLst/>
          </a:prstGeom>
          <a:ln w="26670">
            <a:solidFill>
              <a:srgbClr val="1732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3913632" y="5321808"/>
            <a:ext cx="4370832" cy="841248"/>
          </a:xfrm>
          <a:prstGeom prst="round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06240" y="5440680"/>
            <a:ext cx="1078992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D6A23B"/>
                </a:solidFill>
                <a:latin typeface="Arial"/>
              </a:rPr>
              <a:t>DESIGN NEED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66944" y="5431536"/>
            <a:ext cx="272491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Hardware security with controlled area and activity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087F8C"/>
                </a:solidFill>
                <a:latin typeface="Arial"/>
              </a:rPr>
              <a:t>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17324D"/>
                </a:solidFill>
                <a:latin typeface="Arial"/>
              </a:rPr>
              <a:t>One research path, three engineering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713232" cy="50292"/>
          </a:xfrm>
          <a:prstGeom prst="rect">
            <a:avLst/>
          </a:prstGeom>
          <a:solidFill>
            <a:srgbClr val="B6423C"/>
          </a:solidFill>
          <a:ln>
            <a:solidFill>
              <a:srgbClr val="B6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11480" y="6473952"/>
            <a:ext cx="11365992" cy="0"/>
          </a:xfrm>
          <a:prstGeom prst="line">
            <a:avLst/>
          </a:prstGeom>
          <a:ln w="1016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oep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6510528"/>
            <a:ext cx="256032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519672"/>
            <a:ext cx="292608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>
                <a:solidFill>
                  <a:srgbClr val="607080"/>
                </a:solidFill>
                <a:latin typeface="Arial"/>
              </a:rPr>
              <a:t>COEP Technological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6519672"/>
            <a:ext cx="3931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607080"/>
                </a:solidFill>
                <a:latin typeface="Arial"/>
              </a:rPr>
              <a:t>M.Tech Thesis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95000"/>
              </a:lnSpc>
            </a:pPr>
            <a:r>
              <a:rPr sz="900" b="1">
                <a:solidFill>
                  <a:srgbClr val="17324D"/>
                </a:solidFill>
                <a:latin typeface="Arial"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31546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5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65376" y="1755648"/>
            <a:ext cx="877824" cy="877824"/>
          </a:xfrm>
          <a:prstGeom prst="ellipse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65376" y="1755648"/>
            <a:ext cx="877824" cy="8778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9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834640"/>
            <a:ext cx="26974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100" b="1">
                <a:solidFill>
                  <a:srgbClr val="17324D"/>
                </a:solidFill>
                <a:latin typeface="Arial"/>
              </a:rPr>
              <a:t>Reusable AES-128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493008"/>
            <a:ext cx="251460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400" b="0">
                <a:solidFill>
                  <a:srgbClr val="607080"/>
                </a:solidFill>
                <a:latin typeface="Arial"/>
              </a:rPr>
              <a:t>One round datapath</a:t>
            </a:r>
            <a:br/>
            <a:r>
              <a:rPr sz="1400" b="0">
                <a:solidFill>
                  <a:srgbClr val="607080"/>
                </a:solidFill>
                <a:latin typeface="Arial"/>
              </a:rPr>
              <a:t>reused for 10 rounds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977639" y="2779776"/>
            <a:ext cx="475488" cy="402336"/>
          </a:xfrm>
          <a:prstGeom prst="rightArrow">
            <a:avLst/>
          </a:prstGeom>
          <a:solidFill>
            <a:srgbClr val="D6A23B"/>
          </a:solidFill>
          <a:ln>
            <a:solidFill>
              <a:srgbClr val="D6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26280" y="1417320"/>
            <a:ext cx="31546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5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0136" y="1755648"/>
            <a:ext cx="877824" cy="877824"/>
          </a:xfrm>
          <a:prstGeom prst="ellipse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0136" y="1755648"/>
            <a:ext cx="877824" cy="8778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9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834640"/>
            <a:ext cx="26974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100" b="1">
                <a:solidFill>
                  <a:srgbClr val="17324D"/>
                </a:solidFill>
                <a:latin typeface="Arial"/>
              </a:rPr>
              <a:t>RISC-V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493008"/>
            <a:ext cx="251460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400" b="0">
                <a:solidFill>
                  <a:srgbClr val="607080"/>
                </a:solidFill>
                <a:latin typeface="Arial"/>
              </a:rPr>
              <a:t>MMIO + custom ISA</a:t>
            </a:r>
            <a:br/>
            <a:r>
              <a:rPr sz="1400" b="0">
                <a:solidFill>
                  <a:srgbClr val="607080"/>
                </a:solidFill>
                <a:latin typeface="Arial"/>
              </a:rPr>
              <a:t>+ sensor/UART/DMA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772400" y="2779776"/>
            <a:ext cx="475488" cy="402336"/>
          </a:xfrm>
          <a:prstGeom prst="rightArrow">
            <a:avLst/>
          </a:prstGeom>
          <a:solidFill>
            <a:srgbClr val="D6A23B"/>
          </a:solidFill>
          <a:ln>
            <a:solidFill>
              <a:srgbClr val="D6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21040" y="1417320"/>
            <a:ext cx="31546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5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54896" y="1755648"/>
            <a:ext cx="877824" cy="877824"/>
          </a:xfrm>
          <a:prstGeom prst="ellipse">
            <a:avLst/>
          </a:prstGeom>
          <a:solidFill>
            <a:srgbClr val="B6423C"/>
          </a:solidFill>
          <a:ln>
            <a:solidFill>
              <a:srgbClr val="B6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54896" y="1755648"/>
            <a:ext cx="877824" cy="8778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9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2834640"/>
            <a:ext cx="26974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100" b="1">
                <a:solidFill>
                  <a:srgbClr val="17324D"/>
                </a:solidFill>
                <a:latin typeface="Arial"/>
              </a:rPr>
              <a:t>Layered verification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3493008"/>
            <a:ext cx="251460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400" b="0">
                <a:solidFill>
                  <a:srgbClr val="607080"/>
                </a:solidFill>
                <a:latin typeface="Arial"/>
              </a:rPr>
              <a:t>Directed + random</a:t>
            </a:r>
            <a:br/>
            <a:r>
              <a:rPr sz="1400" b="0">
                <a:solidFill>
                  <a:srgbClr val="607080"/>
                </a:solidFill>
                <a:latin typeface="Arial"/>
              </a:rPr>
              <a:t>+ UVM + Full-SoC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376672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087F8C"/>
                </a:solidFill>
                <a:latin typeface="Arial"/>
              </a:rPr>
              <a:t>Research paper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10912" y="5376672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17324D"/>
                </a:solidFill>
                <a:latin typeface="Arial"/>
              </a:rPr>
              <a:t>M.Tech thesis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50224" y="5376672"/>
            <a:ext cx="23317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B6423C"/>
                </a:solidFill>
                <a:latin typeface="Arial"/>
              </a:rPr>
              <a:t>Evidence and reproducibility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087F8C"/>
                </a:solidFill>
                <a:latin typeface="Arial"/>
              </a:rPr>
              <a:t>THREAT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17324D"/>
                </a:solidFill>
                <a:latin typeface="Arial"/>
              </a:rPr>
              <a:t>Security scope: what is protected, and what is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713232" cy="50292"/>
          </a:xfrm>
          <a:prstGeom prst="rect">
            <a:avLst/>
          </a:prstGeom>
          <a:solidFill>
            <a:srgbClr val="B6423C"/>
          </a:solidFill>
          <a:ln>
            <a:solidFill>
              <a:srgbClr val="B6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11480" y="6473952"/>
            <a:ext cx="11365992" cy="0"/>
          </a:xfrm>
          <a:prstGeom prst="line">
            <a:avLst/>
          </a:prstGeom>
          <a:ln w="1016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oep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6510528"/>
            <a:ext cx="256032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519672"/>
            <a:ext cx="292608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>
                <a:solidFill>
                  <a:srgbClr val="607080"/>
                </a:solidFill>
                <a:latin typeface="Arial"/>
              </a:rPr>
              <a:t>COEP Technological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6519672"/>
            <a:ext cx="3931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607080"/>
                </a:solidFill>
                <a:latin typeface="Arial"/>
              </a:rPr>
              <a:t>M.Tech Thesis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95000"/>
              </a:lnSpc>
            </a:pPr>
            <a:r>
              <a:rPr sz="900" b="1">
                <a:solidFill>
                  <a:srgbClr val="17324D"/>
                </a:solidFill>
                <a:latin typeface="Arial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078992"/>
            <a:ext cx="7360920" cy="5138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iagram_automotive_threat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0416"/>
            <a:ext cx="7360920" cy="401607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119872" y="1234440"/>
            <a:ext cx="3520440" cy="1993392"/>
          </a:xfrm>
          <a:prstGeom prst="roundRect">
            <a:avLst/>
          </a:prstGeom>
          <a:solidFill>
            <a:srgbClr val="E7F3F4"/>
          </a:solidFill>
          <a:ln>
            <a:solidFill>
              <a:srgbClr val="C2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1536192"/>
            <a:ext cx="292608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>
                <a:solidFill>
                  <a:srgbClr val="087F8C"/>
                </a:solidFill>
                <a:latin typeface="Arial"/>
              </a:rPr>
              <a:t>Implemented 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1993392"/>
            <a:ext cx="2926080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>
                <a:solidFill>
                  <a:srgbClr val="1D2730"/>
                </a:solidFill>
                <a:latin typeface="Arial"/>
              </a:rPr>
              <a:t>AES-CTR confidentiality</a:t>
            </a:r>
            <a:br/>
            <a:r>
              <a:rPr sz="1300" b="0">
                <a:solidFill>
                  <a:srgbClr val="1D2730"/>
                </a:solidFill>
                <a:latin typeface="Arial"/>
              </a:rPr>
              <a:t>Unique counter progression</a:t>
            </a:r>
            <a:br/>
            <a:r>
              <a:rPr sz="1300" b="0">
                <a:solidFill>
                  <a:srgbClr val="1D2730"/>
                </a:solidFill>
                <a:latin typeface="Arial"/>
              </a:rPr>
              <a:t>Hardware/software observability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3493008"/>
            <a:ext cx="3520440" cy="2267712"/>
          </a:xfrm>
          <a:prstGeom prst="roundRect">
            <a:avLst/>
          </a:prstGeom>
          <a:solidFill>
            <a:srgbClr val="F8EDEC"/>
          </a:solidFill>
          <a:ln>
            <a:solidFill>
              <a:srgbClr val="E8CA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3785615"/>
            <a:ext cx="292608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>
                <a:solidFill>
                  <a:srgbClr val="B6423C"/>
                </a:solidFill>
                <a:latin typeface="Arial"/>
              </a:rPr>
              <a:t>Production additions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4251960"/>
            <a:ext cx="292608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>
                <a:solidFill>
                  <a:srgbClr val="1D2730"/>
                </a:solidFill>
                <a:latin typeface="Arial"/>
              </a:rPr>
              <a:t>Authentication / integrity</a:t>
            </a:r>
            <a:br/>
            <a:r>
              <a:rPr sz="1300" b="0">
                <a:solidFill>
                  <a:srgbClr val="1D2730"/>
                </a:solidFill>
                <a:latin typeface="Arial"/>
              </a:rPr>
              <a:t>Replay protection</a:t>
            </a:r>
            <a:br/>
            <a:r>
              <a:rPr sz="1300" b="0">
                <a:solidFill>
                  <a:srgbClr val="1D2730"/>
                </a:solidFill>
                <a:latin typeface="Arial"/>
              </a:rPr>
              <a:t>Protected key storage</a:t>
            </a:r>
            <a:br/>
            <a:r>
              <a:rPr sz="1300" b="0">
                <a:solidFill>
                  <a:srgbClr val="1D2730"/>
                </a:solidFill>
                <a:latin typeface="Arial"/>
              </a:rPr>
              <a:t>Side-channel hardening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087F8C"/>
                </a:solidFill>
                <a:latin typeface="Arial"/>
              </a:rPr>
              <a:t>CRYPTOGRAPHY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17324D"/>
                </a:solidFill>
                <a:latin typeface="Arial"/>
              </a:rPr>
              <a:t>AES-128 primitive, CTR for streaming records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713232" cy="50292"/>
          </a:xfrm>
          <a:prstGeom prst="rect">
            <a:avLst/>
          </a:prstGeom>
          <a:solidFill>
            <a:srgbClr val="B6423C"/>
          </a:solidFill>
          <a:ln>
            <a:solidFill>
              <a:srgbClr val="B6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11480" y="6473952"/>
            <a:ext cx="11365992" cy="0"/>
          </a:xfrm>
          <a:prstGeom prst="line">
            <a:avLst/>
          </a:prstGeom>
          <a:ln w="1016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oep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6510528"/>
            <a:ext cx="256032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519672"/>
            <a:ext cx="292608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>
                <a:solidFill>
                  <a:srgbClr val="607080"/>
                </a:solidFill>
                <a:latin typeface="Arial"/>
              </a:rPr>
              <a:t>COEP Technological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6519672"/>
            <a:ext cx="3931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607080"/>
                </a:solidFill>
                <a:latin typeface="Arial"/>
              </a:rPr>
              <a:t>M.Tech Thesis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95000"/>
              </a:lnSpc>
            </a:pPr>
            <a:r>
              <a:rPr sz="900" b="1">
                <a:solidFill>
                  <a:srgbClr val="17324D"/>
                </a:solidFill>
                <a:latin typeface="Arial"/>
              </a:rPr>
              <a:t>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051560"/>
            <a:ext cx="6858000" cy="5138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ES-128 Modes of Ope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19" y="1811163"/>
            <a:ext cx="6858000" cy="36197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571231" y="1234440"/>
            <a:ext cx="4041648" cy="1325880"/>
          </a:xfrm>
          <a:prstGeom prst="round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499616"/>
            <a:ext cx="354787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200" b="1">
                <a:solidFill>
                  <a:srgbClr val="FFFFFF"/>
                </a:solidFill>
                <a:latin typeface="Arial"/>
              </a:rPr>
              <a:t>Kᵢ = AESₖ(N ∥ CTRᵢ)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1938528"/>
            <a:ext cx="3547872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900" b="1">
                <a:solidFill>
                  <a:srgbClr val="D6A23B"/>
                </a:solidFill>
                <a:latin typeface="Arial"/>
              </a:rPr>
              <a:t>Cᵢ = Pᵢ ⊕ Kᵢ</a:t>
            </a:r>
          </a:p>
        </p:txBody>
      </p:sp>
      <p:sp>
        <p:nvSpPr>
          <p:cNvPr id="15" name="Oval 14"/>
          <p:cNvSpPr/>
          <p:nvPr/>
        </p:nvSpPr>
        <p:spPr>
          <a:xfrm>
            <a:off x="7790688" y="2926080"/>
            <a:ext cx="384048" cy="384048"/>
          </a:xfrm>
          <a:prstGeom prst="ellipse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0688" y="2926080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898648"/>
            <a:ext cx="14173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>
                <a:solidFill>
                  <a:srgbClr val="17324D"/>
                </a:solidFill>
                <a:latin typeface="Arial"/>
              </a:rPr>
              <a:t>Same primitive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2898648"/>
            <a:ext cx="14173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0">
                <a:solidFill>
                  <a:srgbClr val="607080"/>
                </a:solidFill>
                <a:latin typeface="Arial"/>
              </a:rPr>
              <a:t>encrypt + decrypt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3767328"/>
            <a:ext cx="384048" cy="384048"/>
          </a:xfrm>
          <a:prstGeom prst="ellipse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3767328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739896"/>
            <a:ext cx="14173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>
                <a:solidFill>
                  <a:srgbClr val="17324D"/>
                </a:solidFill>
                <a:latin typeface="Arial"/>
              </a:rPr>
              <a:t>No padding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3739896"/>
            <a:ext cx="14173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0">
                <a:solidFill>
                  <a:srgbClr val="607080"/>
                </a:solidFill>
                <a:latin typeface="Arial"/>
              </a:rPr>
              <a:t>record friendly</a:t>
            </a:r>
          </a:p>
        </p:txBody>
      </p:sp>
      <p:sp>
        <p:nvSpPr>
          <p:cNvPr id="23" name="Oval 22"/>
          <p:cNvSpPr/>
          <p:nvPr/>
        </p:nvSpPr>
        <p:spPr>
          <a:xfrm>
            <a:off x="7790688" y="4608576"/>
            <a:ext cx="384048" cy="384048"/>
          </a:xfrm>
          <a:prstGeom prst="ellipse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90688" y="4608576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581144"/>
            <a:ext cx="14173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>
                <a:solidFill>
                  <a:srgbClr val="17324D"/>
                </a:solidFill>
                <a:latin typeface="Arial"/>
              </a:rPr>
              <a:t>Parallelizable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4581144"/>
            <a:ext cx="14173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0">
                <a:solidFill>
                  <a:srgbClr val="607080"/>
                </a:solidFill>
                <a:latin typeface="Arial"/>
              </a:rPr>
              <a:t>independent blocks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5504688"/>
            <a:ext cx="3584448" cy="347472"/>
          </a:xfrm>
          <a:prstGeom prst="roundRect">
            <a:avLst/>
          </a:prstGeom>
          <a:solidFill>
            <a:srgbClr val="F8EDEC"/>
          </a:solidFill>
          <a:ln>
            <a:solidFill>
              <a:srgbClr val="F8E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18120" y="5541264"/>
            <a:ext cx="3493008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B6423C"/>
                </a:solidFill>
                <a:latin typeface="Arial"/>
              </a:rPr>
              <a:t>ECB retained only for NIST compatibility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087F8C"/>
                </a:solidFill>
                <a:latin typeface="Arial"/>
              </a:rPr>
              <a:t>AES MICROARCHITECTURE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17324D"/>
                </a:solidFill>
                <a:latin typeface="Arial"/>
              </a:rPr>
              <a:t>Why iterative hardware reuse?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713232" cy="50292"/>
          </a:xfrm>
          <a:prstGeom prst="rect">
            <a:avLst/>
          </a:prstGeom>
          <a:solidFill>
            <a:srgbClr val="B6423C"/>
          </a:solidFill>
          <a:ln>
            <a:solidFill>
              <a:srgbClr val="B6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11480" y="6473952"/>
            <a:ext cx="11365992" cy="0"/>
          </a:xfrm>
          <a:prstGeom prst="line">
            <a:avLst/>
          </a:prstGeom>
          <a:ln w="1016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oep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6510528"/>
            <a:ext cx="256032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519672"/>
            <a:ext cx="292608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>
                <a:solidFill>
                  <a:srgbClr val="607080"/>
                </a:solidFill>
                <a:latin typeface="Arial"/>
              </a:rPr>
              <a:t>COEP Technological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6519672"/>
            <a:ext cx="3931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607080"/>
                </a:solidFill>
                <a:latin typeface="Arial"/>
              </a:rPr>
              <a:t>M.Tech Thesis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95000"/>
              </a:lnSpc>
            </a:pPr>
            <a:r>
              <a:rPr sz="900" b="1">
                <a:solidFill>
                  <a:srgbClr val="17324D"/>
                </a:solidFill>
                <a:latin typeface="Arial"/>
              </a:rPr>
              <a:t>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024128"/>
            <a:ext cx="7726679" cy="517550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ES-128 Implementation Architecture 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91949"/>
            <a:ext cx="7726679" cy="423986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449056" y="1280160"/>
            <a:ext cx="3163824" cy="4535424"/>
          </a:xfrm>
          <a:prstGeom prst="roundRect">
            <a:avLst/>
          </a:prstGeom>
          <a:solidFill>
            <a:srgbClr val="F3F6F8"/>
          </a:solidFill>
          <a:ln>
            <a:solidFill>
              <a:srgbClr val="D9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1609344"/>
            <a:ext cx="263347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000" b="1">
                <a:solidFill>
                  <a:srgbClr val="17324D"/>
                </a:solidFill>
                <a:latin typeface="Arial"/>
              </a:rPr>
              <a:t>Proposed balance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2212848"/>
            <a:ext cx="25146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9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06256" y="2304288"/>
            <a:ext cx="2258568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500" b="1">
                <a:solidFill>
                  <a:srgbClr val="087F8C"/>
                </a:solidFill>
                <a:latin typeface="Arial"/>
              </a:rPr>
              <a:t>1×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7967" y="2798064"/>
            <a:ext cx="2295144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1D2730"/>
                </a:solidFill>
                <a:latin typeface="Arial"/>
              </a:rPr>
              <a:t>round datapath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3502152"/>
            <a:ext cx="25146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9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06256" y="3593592"/>
            <a:ext cx="2258568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500" b="1">
                <a:solidFill>
                  <a:srgbClr val="B6423C"/>
                </a:solidFill>
                <a:latin typeface="Arial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7" y="4087368"/>
            <a:ext cx="2295144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1D2730"/>
                </a:solidFill>
                <a:latin typeface="Arial"/>
              </a:rPr>
              <a:t>controlled rounds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4892040"/>
            <a:ext cx="25146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D6A23B"/>
                </a:solidFill>
                <a:latin typeface="Arial"/>
              </a:rPr>
              <a:t>Tradeoff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5138928"/>
            <a:ext cx="251460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1">
                <a:solidFill>
                  <a:srgbClr val="1D2730"/>
                </a:solidFill>
                <a:latin typeface="Arial"/>
              </a:rPr>
              <a:t>Lower area and activity</a:t>
            </a:r>
            <a:br/>
            <a:r>
              <a:rPr sz="1200" b="1">
                <a:solidFill>
                  <a:srgbClr val="1D2730"/>
                </a:solidFill>
                <a:latin typeface="Arial"/>
              </a:rPr>
              <a:t>for higher block latency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087F8C"/>
                </a:solidFill>
                <a:latin typeface="Arial"/>
              </a:rPr>
              <a:t>CADENCE GENUS · 55 NM · AES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17324D"/>
                </a:solidFill>
                <a:latin typeface="Arial"/>
              </a:rPr>
              <a:t>Standalone AES: the reuse benefit is measurable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713232" cy="50292"/>
          </a:xfrm>
          <a:prstGeom prst="rect">
            <a:avLst/>
          </a:prstGeom>
          <a:solidFill>
            <a:srgbClr val="B6423C"/>
          </a:solidFill>
          <a:ln>
            <a:solidFill>
              <a:srgbClr val="B6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11480" y="6473952"/>
            <a:ext cx="11365992" cy="0"/>
          </a:xfrm>
          <a:prstGeom prst="line">
            <a:avLst/>
          </a:prstGeom>
          <a:ln w="1016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oep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6510528"/>
            <a:ext cx="256032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519672"/>
            <a:ext cx="292608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>
                <a:solidFill>
                  <a:srgbClr val="607080"/>
                </a:solidFill>
                <a:latin typeface="Arial"/>
              </a:rPr>
              <a:t>COEP Technological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6519672"/>
            <a:ext cx="3931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607080"/>
                </a:solidFill>
                <a:latin typeface="Arial"/>
              </a:rPr>
              <a:t>M.Tech Thesis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95000"/>
              </a:lnSpc>
            </a:pPr>
            <a:r>
              <a:rPr sz="900" b="1">
                <a:solidFill>
                  <a:srgbClr val="17324D"/>
                </a:solidFill>
                <a:latin typeface="Arial"/>
              </a:rPr>
              <a:t>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161288"/>
            <a:ext cx="5230368" cy="29077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art_aes_ar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91" y="1161288"/>
            <a:ext cx="5007864" cy="290779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89320" y="1161288"/>
            <a:ext cx="5230368" cy="29077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art_aes_pow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572" y="1161288"/>
            <a:ext cx="5007864" cy="2907791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31520" y="4416552"/>
            <a:ext cx="248716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9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4507992"/>
            <a:ext cx="223113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500" b="1">
                <a:solidFill>
                  <a:srgbClr val="087F8C"/>
                </a:solidFill>
                <a:latin typeface="Arial"/>
              </a:rPr>
              <a:t>96.77%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001768"/>
            <a:ext cx="2267712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1D2730"/>
                </a:solidFill>
                <a:latin typeface="Arial"/>
              </a:rPr>
              <a:t>fewer cells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257800"/>
            <a:ext cx="2267712" cy="1554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50" b="0">
                <a:solidFill>
                  <a:srgbClr val="607080"/>
                </a:solidFill>
                <a:latin typeface="Arial"/>
              </a:rPr>
              <a:t>83,352 → 2,694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93008" y="4416552"/>
            <a:ext cx="248716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9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4507992"/>
            <a:ext cx="223113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500" b="1">
                <a:solidFill>
                  <a:srgbClr val="17324D"/>
                </a:solidFill>
                <a:latin typeface="Arial"/>
              </a:rPr>
              <a:t>94.17%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2736" y="5001768"/>
            <a:ext cx="2267712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1D2730"/>
                </a:solidFill>
                <a:latin typeface="Arial"/>
              </a:rPr>
              <a:t>lower cell area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2736" y="5257800"/>
            <a:ext cx="2267712" cy="1554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50" b="0">
                <a:solidFill>
                  <a:srgbClr val="607080"/>
                </a:solidFill>
                <a:latin typeface="Arial"/>
              </a:rPr>
              <a:t>202,949.64 → 11,841.48 µm²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4496" y="4416552"/>
            <a:ext cx="248716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9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4507992"/>
            <a:ext cx="223113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500" b="1">
                <a:solidFill>
                  <a:srgbClr val="B6423C"/>
                </a:solidFill>
                <a:latin typeface="Arial"/>
              </a:rPr>
              <a:t>96.10%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5001768"/>
            <a:ext cx="2267712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1D2730"/>
                </a:solidFill>
                <a:latin typeface="Arial"/>
              </a:rPr>
              <a:t>lower total power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5257800"/>
            <a:ext cx="2267712" cy="1554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50" b="0">
                <a:solidFill>
                  <a:srgbClr val="607080"/>
                </a:solidFill>
                <a:latin typeface="Arial"/>
              </a:rPr>
              <a:t>21.9 → 0.853 mW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15984" y="4416552"/>
            <a:ext cx="248716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9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4507992"/>
            <a:ext cx="223113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500" b="1">
                <a:solidFill>
                  <a:srgbClr val="D6A23B"/>
                </a:solidFill>
                <a:latin typeface="Arial"/>
              </a:rPr>
              <a:t>+6.806 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1" y="5001768"/>
            <a:ext cx="2267712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1D2730"/>
                </a:solidFill>
                <a:latin typeface="Arial"/>
              </a:rPr>
              <a:t>setup slack at 10 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5711" y="5257800"/>
            <a:ext cx="2267712" cy="1554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50" b="0">
                <a:solidFill>
                  <a:srgbClr val="607080"/>
                </a:solidFill>
                <a:latin typeface="Arial"/>
              </a:rPr>
              <a:t>critical data path 3.102 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087F8C"/>
                </a:solidFill>
                <a:latin typeface="Arial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17324D"/>
                </a:solidFill>
                <a:latin typeface="Arial"/>
              </a:rPr>
              <a:t>From cryptographic block to security processor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713232" cy="50292"/>
          </a:xfrm>
          <a:prstGeom prst="rect">
            <a:avLst/>
          </a:prstGeom>
          <a:solidFill>
            <a:srgbClr val="B6423C"/>
          </a:solidFill>
          <a:ln>
            <a:solidFill>
              <a:srgbClr val="B6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11480" y="6473952"/>
            <a:ext cx="11365992" cy="0"/>
          </a:xfrm>
          <a:prstGeom prst="line">
            <a:avLst/>
          </a:prstGeom>
          <a:ln w="1016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oep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6510528"/>
            <a:ext cx="256032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519672"/>
            <a:ext cx="292608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>
                <a:solidFill>
                  <a:srgbClr val="607080"/>
                </a:solidFill>
                <a:latin typeface="Arial"/>
              </a:rPr>
              <a:t>COEP Technological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6519672"/>
            <a:ext cx="3931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607080"/>
                </a:solidFill>
                <a:latin typeface="Arial"/>
              </a:rPr>
              <a:t>M.Tech Thesis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95000"/>
              </a:lnSpc>
            </a:pPr>
            <a:r>
              <a:rPr sz="900" b="1">
                <a:solidFill>
                  <a:srgbClr val="17324D"/>
                </a:solidFill>
                <a:latin typeface="Arial"/>
              </a:rPr>
              <a:t>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987552"/>
            <a:ext cx="11265408" cy="5349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iagram_complete_syst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943" y="987552"/>
            <a:ext cx="7559921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087F8C"/>
                </a:solidFill>
                <a:latin typeface="Arial"/>
              </a:rPr>
              <a:t>RISC-V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17324D"/>
                </a:solidFill>
                <a:latin typeface="Arial"/>
              </a:rPr>
              <a:t>The MEM stage becomes the internal security interconnect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713232" cy="50292"/>
          </a:xfrm>
          <a:prstGeom prst="rect">
            <a:avLst/>
          </a:prstGeom>
          <a:solidFill>
            <a:srgbClr val="B6423C"/>
          </a:solidFill>
          <a:ln>
            <a:solidFill>
              <a:srgbClr val="B6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11480" y="6473952"/>
            <a:ext cx="11365992" cy="0"/>
          </a:xfrm>
          <a:prstGeom prst="line">
            <a:avLst/>
          </a:prstGeom>
          <a:ln w="1016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oep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6510528"/>
            <a:ext cx="256032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519672"/>
            <a:ext cx="292608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>
                <a:solidFill>
                  <a:srgbClr val="607080"/>
                </a:solidFill>
                <a:latin typeface="Arial"/>
              </a:rPr>
              <a:t>COEP Technological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6519672"/>
            <a:ext cx="3931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607080"/>
                </a:solidFill>
                <a:latin typeface="Arial"/>
              </a:rPr>
              <a:t>M.Tech Thesis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95000"/>
              </a:lnSpc>
            </a:pPr>
            <a:r>
              <a:rPr sz="900" b="1">
                <a:solidFill>
                  <a:srgbClr val="17324D"/>
                </a:solidFill>
                <a:latin typeface="Arial"/>
              </a:rPr>
              <a:t>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033271"/>
            <a:ext cx="7909560" cy="52303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iagram_riscv_pipeline_mm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738" y="1033271"/>
            <a:ext cx="7391922" cy="523036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613648" y="1325880"/>
            <a:ext cx="2999232" cy="4462272"/>
          </a:xfrm>
          <a:prstGeom prst="roundRect">
            <a:avLst/>
          </a:prstGeom>
          <a:solidFill>
            <a:srgbClr val="F3F6F8"/>
          </a:solidFill>
          <a:ln>
            <a:solidFill>
              <a:srgbClr val="D9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1609344"/>
            <a:ext cx="2487168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900" b="1">
                <a:solidFill>
                  <a:srgbClr val="17324D"/>
                </a:solidFill>
                <a:latin typeface="Arial"/>
              </a:rPr>
              <a:t>Address windows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2139696"/>
            <a:ext cx="749808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2176272"/>
            <a:ext cx="658368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B6423C"/>
                </a:solidFill>
                <a:latin typeface="Arial"/>
              </a:rPr>
              <a:t>0x300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65792" y="2157984"/>
            <a:ext cx="1426464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1D2730"/>
                </a:solidFill>
                <a:latin typeface="Arial"/>
              </a:rPr>
              <a:t>AES / CTR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2660903"/>
            <a:ext cx="749808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2697479"/>
            <a:ext cx="658368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087F8C"/>
                </a:solidFill>
                <a:latin typeface="Arial"/>
              </a:rPr>
              <a:t>0x400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65792" y="2679191"/>
            <a:ext cx="1426464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1D2730"/>
                </a:solidFill>
                <a:latin typeface="Arial"/>
              </a:rPr>
              <a:t>Sensor / SPI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3182111"/>
            <a:ext cx="749808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3218687"/>
            <a:ext cx="658368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17324D"/>
                </a:solidFill>
                <a:latin typeface="Arial"/>
              </a:rPr>
              <a:t>0x500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65792" y="3200399"/>
            <a:ext cx="1426464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1D2730"/>
                </a:solidFill>
                <a:latin typeface="Arial"/>
              </a:rPr>
              <a:t>UART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0" y="3703320"/>
            <a:ext cx="749808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15400" y="3739896"/>
            <a:ext cx="658368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D6A23B"/>
                </a:solidFill>
                <a:latin typeface="Arial"/>
              </a:rPr>
              <a:t>0x600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65792" y="3721607"/>
            <a:ext cx="1426464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1D2730"/>
                </a:solidFill>
                <a:latin typeface="Arial"/>
              </a:rPr>
              <a:t>Interrupts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69680" y="4224527"/>
            <a:ext cx="749808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0" y="4261103"/>
            <a:ext cx="658368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2D7D5B"/>
                </a:solidFill>
                <a:latin typeface="Arial"/>
              </a:rPr>
              <a:t>0x700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4242815"/>
            <a:ext cx="1426464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1D2730"/>
                </a:solidFill>
                <a:latin typeface="Arial"/>
              </a:rPr>
              <a:t>DMA-lite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9680" y="4745736"/>
            <a:ext cx="749808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5400" y="4782312"/>
            <a:ext cx="658368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607080"/>
                </a:solidFill>
                <a:latin typeface="Arial"/>
              </a:rPr>
              <a:t>0x800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65792" y="4764023"/>
            <a:ext cx="1426464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>
                <a:solidFill>
                  <a:srgbClr val="1D2730"/>
                </a:solidFill>
                <a:latin typeface="Arial"/>
              </a:rPr>
              <a:t>Power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087F8C"/>
                </a:solidFill>
                <a:latin typeface="Arial"/>
              </a:rPr>
              <a:t>CUSTOM-0 OPCODE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17324D"/>
                </a:solidFill>
                <a:latin typeface="Arial"/>
              </a:rPr>
              <a:t>Custom security ISA: lower software control overhead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713232" cy="50292"/>
          </a:xfrm>
          <a:prstGeom prst="rect">
            <a:avLst/>
          </a:prstGeom>
          <a:solidFill>
            <a:srgbClr val="B6423C"/>
          </a:solidFill>
          <a:ln>
            <a:solidFill>
              <a:srgbClr val="B6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11480" y="6473952"/>
            <a:ext cx="11365992" cy="0"/>
          </a:xfrm>
          <a:prstGeom prst="line">
            <a:avLst/>
          </a:prstGeom>
          <a:ln w="1016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oep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6510528"/>
            <a:ext cx="256032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519672"/>
            <a:ext cx="292608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>
                <a:solidFill>
                  <a:srgbClr val="607080"/>
                </a:solidFill>
                <a:latin typeface="Arial"/>
              </a:rPr>
              <a:t>COEP Technological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6519672"/>
            <a:ext cx="3931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607080"/>
                </a:solidFill>
                <a:latin typeface="Arial"/>
              </a:rPr>
              <a:t>M.Tech Thesis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95000"/>
              </a:lnSpc>
            </a:pPr>
            <a:r>
              <a:rPr sz="900" b="1">
                <a:solidFill>
                  <a:srgbClr val="17324D"/>
                </a:solidFill>
                <a:latin typeface="Arial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042415"/>
            <a:ext cx="7589520" cy="51663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iagram_custom_isa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5195"/>
            <a:ext cx="7589520" cy="41408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302752" y="1261872"/>
            <a:ext cx="3273552" cy="4526280"/>
          </a:xfrm>
          <a:prstGeom prst="round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22792" y="1581912"/>
            <a:ext cx="263347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700" b="1">
                <a:solidFill>
                  <a:srgbClr val="D6A23B"/>
                </a:solidFill>
                <a:latin typeface="Arial"/>
              </a:rPr>
              <a:t>0001011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22792" y="2103120"/>
            <a:ext cx="263347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RISC-V custom-0 opcode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2679192"/>
            <a:ext cx="2414016" cy="347472"/>
          </a:xfrm>
          <a:prstGeom prst="roundRect">
            <a:avLst/>
          </a:prstGeom>
          <a:solidFill>
            <a:srgbClr val="EAF2F5"/>
          </a:solidFill>
          <a:ln>
            <a:solidFill>
              <a:srgbClr val="EA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2715768"/>
            <a:ext cx="2322576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087F8C"/>
                </a:solidFill>
                <a:latin typeface="Arial"/>
              </a:rPr>
              <a:t>CSEC_XOR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3200400"/>
            <a:ext cx="2414016" cy="347472"/>
          </a:xfrm>
          <a:prstGeom prst="roundRect">
            <a:avLst/>
          </a:prstGeom>
          <a:solidFill>
            <a:srgbClr val="EAF2F5"/>
          </a:solidFill>
          <a:ln>
            <a:solidFill>
              <a:srgbClr val="EA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3236976"/>
            <a:ext cx="2322576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087F8C"/>
                </a:solidFill>
                <a:latin typeface="Arial"/>
              </a:rPr>
              <a:t>AES_STATUS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3721608"/>
            <a:ext cx="2414016" cy="347472"/>
          </a:xfrm>
          <a:prstGeom prst="roundRect">
            <a:avLst/>
          </a:prstGeom>
          <a:solidFill>
            <a:srgbClr val="EAF2F5"/>
          </a:solidFill>
          <a:ln>
            <a:solidFill>
              <a:srgbClr val="EA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3758184"/>
            <a:ext cx="2322576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B6423C"/>
                </a:solidFill>
                <a:latin typeface="Arial"/>
              </a:rPr>
              <a:t>AES_START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4242816"/>
            <a:ext cx="2414016" cy="347472"/>
          </a:xfrm>
          <a:prstGeom prst="roundRect">
            <a:avLst/>
          </a:prstGeom>
          <a:solidFill>
            <a:srgbClr val="EAF2F5"/>
          </a:solidFill>
          <a:ln>
            <a:solidFill>
              <a:srgbClr val="EA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4279392"/>
            <a:ext cx="2322576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087F8C"/>
                </a:solidFill>
                <a:latin typeface="Arial"/>
              </a:rPr>
              <a:t>AES_CT0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32520" y="4764024"/>
            <a:ext cx="2414016" cy="347472"/>
          </a:xfrm>
          <a:prstGeom prst="roundRect">
            <a:avLst/>
          </a:prstGeom>
          <a:solidFill>
            <a:srgbClr val="EAF2F5"/>
          </a:solidFill>
          <a:ln>
            <a:solidFill>
              <a:srgbClr val="EA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4800600"/>
            <a:ext cx="2322576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087F8C"/>
                </a:solidFill>
                <a:latin typeface="Arial"/>
              </a:rPr>
              <a:t>AES_CLEAR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5449824"/>
            <a:ext cx="251460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MMIO remains available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087F8C"/>
                </a:solidFill>
                <a:latin typeface="Arial"/>
              </a:rPr>
              <a:t>AUTONOMOUS VEHICLE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17324D"/>
                </a:solidFill>
                <a:latin typeface="Arial"/>
              </a:rPr>
              <a:t>One 128-bit vehicle record, protected end to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713232" cy="50292"/>
          </a:xfrm>
          <a:prstGeom prst="rect">
            <a:avLst/>
          </a:prstGeom>
          <a:solidFill>
            <a:srgbClr val="B6423C"/>
          </a:solidFill>
          <a:ln>
            <a:solidFill>
              <a:srgbClr val="B6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11480" y="6473952"/>
            <a:ext cx="11365992" cy="0"/>
          </a:xfrm>
          <a:prstGeom prst="line">
            <a:avLst/>
          </a:prstGeom>
          <a:ln w="1016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oep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6510528"/>
            <a:ext cx="256032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519672"/>
            <a:ext cx="292608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>
                <a:solidFill>
                  <a:srgbClr val="607080"/>
                </a:solidFill>
                <a:latin typeface="Arial"/>
              </a:rPr>
              <a:t>COEP Technological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6519672"/>
            <a:ext cx="3931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607080"/>
                </a:solidFill>
                <a:latin typeface="Arial"/>
              </a:rPr>
              <a:t>M.Tech Thesis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95000"/>
              </a:lnSpc>
            </a:pPr>
            <a:r>
              <a:rPr sz="900" b="1">
                <a:solidFill>
                  <a:srgbClr val="17324D"/>
                </a:solidFill>
                <a:latin typeface="Arial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078992"/>
            <a:ext cx="6839712" cy="5074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iagram_automotive_telemetry_rec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50597"/>
            <a:ext cx="6839712" cy="373170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571231" y="1261872"/>
            <a:ext cx="4041648" cy="4526280"/>
          </a:xfrm>
          <a:prstGeom prst="roundRect">
            <a:avLst/>
          </a:prstGeom>
          <a:solidFill>
            <a:srgbClr val="F3F6F8"/>
          </a:solidFill>
          <a:ln>
            <a:solidFill>
              <a:srgbClr val="D9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00416" y="1600200"/>
            <a:ext cx="411480" cy="411480"/>
          </a:xfrm>
          <a:prstGeom prst="ellipse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0416" y="1600200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591056"/>
            <a:ext cx="267004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>
                <a:solidFill>
                  <a:srgbClr val="1D2730"/>
                </a:solidFill>
                <a:latin typeface="Arial"/>
              </a:rPr>
              <a:t>Read sensor / SPI</a:t>
            </a:r>
          </a:p>
        </p:txBody>
      </p:sp>
      <p:sp>
        <p:nvSpPr>
          <p:cNvPr id="16" name="Oval 15"/>
          <p:cNvSpPr/>
          <p:nvPr/>
        </p:nvSpPr>
        <p:spPr>
          <a:xfrm>
            <a:off x="7900416" y="2350008"/>
            <a:ext cx="411480" cy="411480"/>
          </a:xfrm>
          <a:prstGeom prst="ellipse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0416" y="2350008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340864"/>
            <a:ext cx="267004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>
                <a:solidFill>
                  <a:srgbClr val="1D2730"/>
                </a:solidFill>
                <a:latin typeface="Arial"/>
              </a:rPr>
              <a:t>Stage record with DMA</a:t>
            </a:r>
          </a:p>
        </p:txBody>
      </p:sp>
      <p:sp>
        <p:nvSpPr>
          <p:cNvPr id="19" name="Oval 18"/>
          <p:cNvSpPr/>
          <p:nvPr/>
        </p:nvSpPr>
        <p:spPr>
          <a:xfrm>
            <a:off x="7900416" y="3099815"/>
            <a:ext cx="411480" cy="411480"/>
          </a:xfrm>
          <a:prstGeom prst="ellipse">
            <a:avLst/>
          </a:prstGeom>
          <a:solidFill>
            <a:srgbClr val="B6423C"/>
          </a:solidFill>
          <a:ln>
            <a:solidFill>
              <a:srgbClr val="B6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0416" y="3099815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090672"/>
            <a:ext cx="267004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>
                <a:solidFill>
                  <a:srgbClr val="1D2730"/>
                </a:solidFill>
                <a:latin typeface="Arial"/>
              </a:rPr>
              <a:t>Encrypt using AES-CTR</a:t>
            </a:r>
          </a:p>
        </p:txBody>
      </p:sp>
      <p:sp>
        <p:nvSpPr>
          <p:cNvPr id="22" name="Oval 21"/>
          <p:cNvSpPr/>
          <p:nvPr/>
        </p:nvSpPr>
        <p:spPr>
          <a:xfrm>
            <a:off x="7900416" y="3849624"/>
            <a:ext cx="411480" cy="411480"/>
          </a:xfrm>
          <a:prstGeom prst="ellipse">
            <a:avLst/>
          </a:prstGeom>
          <a:solidFill>
            <a:srgbClr val="D6A23B"/>
          </a:solidFill>
          <a:ln>
            <a:solidFill>
              <a:srgbClr val="D6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0416" y="3849624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840480"/>
            <a:ext cx="267004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>
                <a:solidFill>
                  <a:srgbClr val="1D2730"/>
                </a:solidFill>
                <a:latin typeface="Arial"/>
              </a:rPr>
              <a:t>Transmit ciphertext</a:t>
            </a:r>
          </a:p>
        </p:txBody>
      </p:sp>
      <p:sp>
        <p:nvSpPr>
          <p:cNvPr id="25" name="Oval 24"/>
          <p:cNvSpPr/>
          <p:nvPr/>
        </p:nvSpPr>
        <p:spPr>
          <a:xfrm>
            <a:off x="7900416" y="4599431"/>
            <a:ext cx="411480" cy="411480"/>
          </a:xfrm>
          <a:prstGeom prst="ellipse">
            <a:avLst/>
          </a:prstGeom>
          <a:solidFill>
            <a:srgbClr val="2D7D5B"/>
          </a:solidFill>
          <a:ln>
            <a:solidFill>
              <a:srgbClr val="2D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0416" y="4599431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590288"/>
            <a:ext cx="267004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>
                <a:solidFill>
                  <a:srgbClr val="1D2730"/>
                </a:solidFill>
                <a:latin typeface="Arial"/>
              </a:rPr>
              <a:t>IRQ → counters → sleep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82127" y="5376672"/>
            <a:ext cx="3401568" cy="347472"/>
          </a:xfrm>
          <a:prstGeom prst="roundRect">
            <a:avLst/>
          </a:prstGeom>
          <a:solidFill>
            <a:srgbClr val="E7F3F4"/>
          </a:solidFill>
          <a:ln>
            <a:solidFill>
              <a:srgbClr val="E7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27848" y="5413248"/>
            <a:ext cx="3310128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087F8C"/>
                </a:solidFill>
                <a:latin typeface="Arial"/>
              </a:rPr>
              <a:t>Receiver regenerates keystream and XORs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087F8C"/>
                </a:solidFill>
                <a:latin typeface="Arial"/>
              </a:rPr>
              <a:t>VERIFICATION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17324D"/>
                </a:solidFill>
                <a:latin typeface="Arial"/>
              </a:rPr>
              <a:t>Verification grows from primitive to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713232" cy="50292"/>
          </a:xfrm>
          <a:prstGeom prst="rect">
            <a:avLst/>
          </a:prstGeom>
          <a:solidFill>
            <a:srgbClr val="B6423C"/>
          </a:solidFill>
          <a:ln>
            <a:solidFill>
              <a:srgbClr val="B6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11480" y="6473952"/>
            <a:ext cx="11365992" cy="0"/>
          </a:xfrm>
          <a:prstGeom prst="line">
            <a:avLst/>
          </a:prstGeom>
          <a:ln w="1016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oep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6510528"/>
            <a:ext cx="256032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519672"/>
            <a:ext cx="292608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>
                <a:solidFill>
                  <a:srgbClr val="607080"/>
                </a:solidFill>
                <a:latin typeface="Arial"/>
              </a:rPr>
              <a:t>COEP Technological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6519672"/>
            <a:ext cx="3931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607080"/>
                </a:solidFill>
                <a:latin typeface="Arial"/>
              </a:rPr>
              <a:t>M.Tech Thesis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95000"/>
              </a:lnSpc>
            </a:pPr>
            <a:r>
              <a:rPr sz="900" b="1">
                <a:solidFill>
                  <a:srgbClr val="17324D"/>
                </a:solidFill>
                <a:latin typeface="Arial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4956048"/>
            <a:ext cx="1444752" cy="1115568"/>
          </a:xfrm>
          <a:prstGeom prst="round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42416" y="5065776"/>
            <a:ext cx="420624" cy="420624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5065776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1">
                <a:solidFill>
                  <a:srgbClr val="087F8C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3" y="5513832"/>
            <a:ext cx="129844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Arial"/>
              </a:rPr>
              <a:t>AES KAT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3" y="5760720"/>
            <a:ext cx="129844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20" b="0">
                <a:solidFill>
                  <a:srgbClr val="FFFFFF"/>
                </a:solidFill>
                <a:latin typeface="Arial"/>
              </a:rPr>
              <a:t>NIST primitive correctness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76272" y="4434840"/>
            <a:ext cx="1444752" cy="1115568"/>
          </a:xfrm>
          <a:prstGeom prst="round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88336" y="4544568"/>
            <a:ext cx="420624" cy="420624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88336" y="4544568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1">
                <a:solidFill>
                  <a:srgbClr val="17324D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9424" y="4992624"/>
            <a:ext cx="129844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Arial"/>
              </a:rPr>
              <a:t>CPU directed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9424" y="5239512"/>
            <a:ext cx="129844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20" b="0">
                <a:solidFill>
                  <a:srgbClr val="FFFFFF"/>
                </a:solidFill>
                <a:latin typeface="Arial"/>
              </a:rPr>
              <a:t>RV32I-style behavior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22191" y="3913632"/>
            <a:ext cx="1444752" cy="1115568"/>
          </a:xfrm>
          <a:prstGeom prst="roundRect">
            <a:avLst/>
          </a:prstGeom>
          <a:solidFill>
            <a:srgbClr val="D6A23B"/>
          </a:solidFill>
          <a:ln>
            <a:solidFill>
              <a:srgbClr val="D6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34256" y="4023360"/>
            <a:ext cx="420624" cy="420624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34256" y="4023360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1">
                <a:solidFill>
                  <a:srgbClr val="D6A23B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95344" y="4471416"/>
            <a:ext cx="129844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Arial"/>
              </a:rPr>
              <a:t>Peripheral directed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95344" y="4718304"/>
            <a:ext cx="129844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20" b="0">
                <a:solidFill>
                  <a:srgbClr val="FFFFFF"/>
                </a:solidFill>
                <a:latin typeface="Arial"/>
              </a:rPr>
              <a:t>MMIO + custom commands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68112" y="3392424"/>
            <a:ext cx="1444752" cy="1115568"/>
          </a:xfrm>
          <a:prstGeom prst="roundRect">
            <a:avLst/>
          </a:prstGeom>
          <a:solidFill>
            <a:srgbClr val="2D7D5B"/>
          </a:solidFill>
          <a:ln>
            <a:solidFill>
              <a:srgbClr val="2D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980176" y="3502152"/>
            <a:ext cx="420624" cy="420624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80176" y="3502152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1">
                <a:solidFill>
                  <a:srgbClr val="2D7D5B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41264" y="3950208"/>
            <a:ext cx="129844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Arial"/>
              </a:rPr>
              <a:t>Random smoke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41264" y="4197096"/>
            <a:ext cx="129844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20" b="0">
                <a:solidFill>
                  <a:srgbClr val="FFFFFF"/>
                </a:solidFill>
                <a:latin typeface="Arial"/>
              </a:rPr>
              <a:t>changing values and addresses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14032" y="2871216"/>
            <a:ext cx="1444752" cy="1115568"/>
          </a:xfrm>
          <a:prstGeom prst="roundRect">
            <a:avLst/>
          </a:prstGeom>
          <a:solidFill>
            <a:srgbClr val="B6423C"/>
          </a:solidFill>
          <a:ln>
            <a:solidFill>
              <a:srgbClr val="B6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626096" y="2980944"/>
            <a:ext cx="420624" cy="420624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26096" y="2980944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1">
                <a:solidFill>
                  <a:srgbClr val="B6423C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87184" y="3429000"/>
            <a:ext cx="129844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Arial"/>
              </a:rPr>
              <a:t>UVM + C-DPI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87184" y="3675888"/>
            <a:ext cx="129844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20" b="0">
                <a:solidFill>
                  <a:srgbClr val="FFFFFF"/>
                </a:solidFill>
                <a:latin typeface="Arial"/>
              </a:rPr>
              <a:t>independent reference model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59952" y="2350008"/>
            <a:ext cx="1444752" cy="1115568"/>
          </a:xfrm>
          <a:prstGeom prst="round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272016" y="2459736"/>
            <a:ext cx="420624" cy="420624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72016" y="2459736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1">
                <a:solidFill>
                  <a:srgbClr val="087F8C"/>
                </a:solidFill>
                <a:latin typeface="Arial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3104" y="2907792"/>
            <a:ext cx="129844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Arial"/>
              </a:rPr>
              <a:t>Coverage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33104" y="3154680"/>
            <a:ext cx="129844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20" b="0">
                <a:solidFill>
                  <a:srgbClr val="FFFFFF"/>
                </a:solidFill>
                <a:latin typeface="Arial"/>
              </a:rPr>
              <a:t>114 planned bins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405872" y="1828800"/>
            <a:ext cx="1444752" cy="1115568"/>
          </a:xfrm>
          <a:prstGeom prst="round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917936" y="1938528"/>
            <a:ext cx="420624" cy="420624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17936" y="1938528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1">
                <a:solidFill>
                  <a:srgbClr val="17324D"/>
                </a:solidFill>
                <a:latin typeface="Arial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79024" y="2386584"/>
            <a:ext cx="129844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Arial"/>
              </a:rPr>
              <a:t>Full-SoC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79024" y="2633472"/>
            <a:ext cx="129844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20" b="0">
                <a:solidFill>
                  <a:srgbClr val="FFFFFF"/>
                </a:solidFill>
                <a:latin typeface="Arial"/>
              </a:rPr>
              <a:t>sensor → UART → sleep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84448" y="1024128"/>
            <a:ext cx="502920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200" b="1">
                <a:solidFill>
                  <a:srgbClr val="17324D"/>
                </a:solidFill>
                <a:latin typeface="Arial"/>
              </a:rPr>
              <a:t>Confidence increases with integration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2331720" y="1490472"/>
            <a:ext cx="7543800" cy="228600"/>
          </a:xfrm>
          <a:prstGeom prst="rightArrow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087F8C"/>
                </a:solidFill>
                <a:latin typeface="Arial"/>
              </a:rPr>
              <a:t>UVM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17324D"/>
                </a:solidFill>
                <a:latin typeface="Arial"/>
              </a:rPr>
              <a:t>Independent reference, serial monitor, end-to-end scoreboard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713232" cy="50292"/>
          </a:xfrm>
          <a:prstGeom prst="rect">
            <a:avLst/>
          </a:prstGeom>
          <a:solidFill>
            <a:srgbClr val="B6423C"/>
          </a:solidFill>
          <a:ln>
            <a:solidFill>
              <a:srgbClr val="B6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11480" y="6473952"/>
            <a:ext cx="11365992" cy="0"/>
          </a:xfrm>
          <a:prstGeom prst="line">
            <a:avLst/>
          </a:prstGeom>
          <a:ln w="1016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oep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6510528"/>
            <a:ext cx="256032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519672"/>
            <a:ext cx="292608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>
                <a:solidFill>
                  <a:srgbClr val="607080"/>
                </a:solidFill>
                <a:latin typeface="Arial"/>
              </a:rPr>
              <a:t>COEP Technological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6519672"/>
            <a:ext cx="3931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607080"/>
                </a:solidFill>
                <a:latin typeface="Arial"/>
              </a:rPr>
              <a:t>M.Tech Thesis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95000"/>
              </a:lnSpc>
            </a:pPr>
            <a:r>
              <a:rPr sz="900" b="1">
                <a:solidFill>
                  <a:srgbClr val="17324D"/>
                </a:solidFill>
                <a:latin typeface="Arial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05840"/>
            <a:ext cx="11265408" cy="5349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iagram_uvm_e2e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92" y="1005840"/>
            <a:ext cx="9804422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087F8C"/>
                </a:solidFill>
                <a:latin typeface="Arial"/>
              </a:rPr>
              <a:t>QUESTA WAVEFORM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17324D"/>
                </a:solidFill>
                <a:latin typeface="Arial"/>
              </a:rPr>
              <a:t>Known-answer test: round-by-round correctness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713232" cy="50292"/>
          </a:xfrm>
          <a:prstGeom prst="rect">
            <a:avLst/>
          </a:prstGeom>
          <a:solidFill>
            <a:srgbClr val="B6423C"/>
          </a:solidFill>
          <a:ln>
            <a:solidFill>
              <a:srgbClr val="B6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11480" y="6473952"/>
            <a:ext cx="11365992" cy="0"/>
          </a:xfrm>
          <a:prstGeom prst="line">
            <a:avLst/>
          </a:prstGeom>
          <a:ln w="1016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oep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6510528"/>
            <a:ext cx="256032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519672"/>
            <a:ext cx="292608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>
                <a:solidFill>
                  <a:srgbClr val="607080"/>
                </a:solidFill>
                <a:latin typeface="Arial"/>
              </a:rPr>
              <a:t>COEP Technological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6519672"/>
            <a:ext cx="3931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607080"/>
                </a:solidFill>
                <a:latin typeface="Arial"/>
              </a:rPr>
              <a:t>M.Tech Thesis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95000"/>
              </a:lnSpc>
            </a:pPr>
            <a:r>
              <a:rPr sz="900" b="1">
                <a:solidFill>
                  <a:srgbClr val="17324D"/>
                </a:solidFill>
                <a:latin typeface="Arial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069848"/>
            <a:ext cx="11137392" cy="4407408"/>
          </a:xfrm>
          <a:prstGeom prst="rect">
            <a:avLst/>
          </a:prstGeom>
          <a:solidFill>
            <a:srgbClr val="000000"/>
          </a:solidFill>
          <a:ln>
            <a:solidFill>
              <a:srgbClr val="C8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ave_aes_k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643" y="1069848"/>
            <a:ext cx="8269944" cy="4407408"/>
          </a:xfrm>
          <a:prstGeom prst="rect">
            <a:avLst/>
          </a:prstGeom>
          <a:ln w="10160">
            <a:solidFill>
              <a:srgbClr val="C8D2D9"/>
            </a:solidFill>
          </a:ln>
        </p:spPr>
      </p:pic>
      <p:sp>
        <p:nvSpPr>
          <p:cNvPr id="12" name="Rounded Rectangle 11"/>
          <p:cNvSpPr/>
          <p:nvPr/>
        </p:nvSpPr>
        <p:spPr>
          <a:xfrm>
            <a:off x="777240" y="5724144"/>
            <a:ext cx="2331720" cy="347472"/>
          </a:xfrm>
          <a:prstGeom prst="roundRect">
            <a:avLst/>
          </a:prstGeom>
          <a:solidFill>
            <a:srgbClr val="E7F3F4"/>
          </a:solidFill>
          <a:ln>
            <a:solidFill>
              <a:srgbClr val="E7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760720"/>
            <a:ext cx="2240279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087F8C"/>
                </a:solidFill>
                <a:latin typeface="Arial"/>
              </a:rPr>
              <a:t>Key 000102…0E0F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5724144"/>
            <a:ext cx="2578608" cy="347472"/>
          </a:xfrm>
          <a:prstGeom prst="roundRect">
            <a:avLst/>
          </a:prstGeom>
          <a:solidFill>
            <a:srgbClr val="EAF0F5"/>
          </a:solidFill>
          <a:ln>
            <a:solidFill>
              <a:srgbClr val="EA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5760720"/>
            <a:ext cx="2487168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17324D"/>
                </a:solidFill>
                <a:latin typeface="Arial"/>
              </a:rPr>
              <a:t>Plaintext 001122…EEFF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5724144"/>
            <a:ext cx="2084831" cy="347472"/>
          </a:xfrm>
          <a:prstGeom prst="roundRect">
            <a:avLst/>
          </a:prstGeom>
          <a:solidFill>
            <a:srgbClr val="FBF3DF"/>
          </a:solidFill>
          <a:ln>
            <a:solidFill>
              <a:srgbClr val="FBF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5760720"/>
            <a:ext cx="1993391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D6A23B"/>
                </a:solidFill>
                <a:latin typeface="Arial"/>
              </a:rPr>
              <a:t>10 rounds observed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22792" y="5724144"/>
            <a:ext cx="2724912" cy="347472"/>
          </a:xfrm>
          <a:prstGeom prst="roundRect">
            <a:avLst/>
          </a:prstGeom>
          <a:solidFill>
            <a:srgbClr val="F8EDEC"/>
          </a:solidFill>
          <a:ln>
            <a:solidFill>
              <a:srgbClr val="F8E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68512" y="5760720"/>
            <a:ext cx="2633472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B6423C"/>
                </a:solidFill>
                <a:latin typeface="Arial"/>
              </a:rPr>
              <a:t>Ciphertext 69C4E0…C55A 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087F8C"/>
                </a:solidFill>
                <a:latin typeface="Arial"/>
              </a:rPr>
              <a:t>QUESTA FULL-SOC WAVEFORM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17324D"/>
                </a:solidFill>
                <a:latin typeface="Arial"/>
              </a:rPr>
              <a:t>The complete transaction executes as one scenario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713232" cy="50292"/>
          </a:xfrm>
          <a:prstGeom prst="rect">
            <a:avLst/>
          </a:prstGeom>
          <a:solidFill>
            <a:srgbClr val="B6423C"/>
          </a:solidFill>
          <a:ln>
            <a:solidFill>
              <a:srgbClr val="B6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11480" y="6473952"/>
            <a:ext cx="11365992" cy="0"/>
          </a:xfrm>
          <a:prstGeom prst="line">
            <a:avLst/>
          </a:prstGeom>
          <a:ln w="1016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oep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6510528"/>
            <a:ext cx="256032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519672"/>
            <a:ext cx="292608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>
                <a:solidFill>
                  <a:srgbClr val="607080"/>
                </a:solidFill>
                <a:latin typeface="Arial"/>
              </a:rPr>
              <a:t>COEP Technological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6519672"/>
            <a:ext cx="3931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607080"/>
                </a:solidFill>
                <a:latin typeface="Arial"/>
              </a:rPr>
              <a:t>M.Tech Thesis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95000"/>
              </a:lnSpc>
            </a:pPr>
            <a:r>
              <a:rPr sz="900" b="1">
                <a:solidFill>
                  <a:srgbClr val="17324D"/>
                </a:solidFill>
                <a:latin typeface="Arial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051560"/>
            <a:ext cx="11137392" cy="4370832"/>
          </a:xfrm>
          <a:prstGeom prst="rect">
            <a:avLst/>
          </a:prstGeom>
          <a:solidFill>
            <a:srgbClr val="000000"/>
          </a:solidFill>
          <a:ln>
            <a:solidFill>
              <a:srgbClr val="C8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ave_soc_datapat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0959" y="1051560"/>
            <a:ext cx="8201313" cy="4370832"/>
          </a:xfrm>
          <a:prstGeom prst="rect">
            <a:avLst/>
          </a:prstGeom>
          <a:ln w="10160">
            <a:solidFill>
              <a:srgbClr val="C8D2D9"/>
            </a:solidFill>
          </a:ln>
        </p:spPr>
      </p:pic>
      <p:sp>
        <p:nvSpPr>
          <p:cNvPr id="12" name="Rounded Rectangle 11"/>
          <p:cNvSpPr/>
          <p:nvPr/>
        </p:nvSpPr>
        <p:spPr>
          <a:xfrm>
            <a:off x="713232" y="5687568"/>
            <a:ext cx="1920240" cy="347472"/>
          </a:xfrm>
          <a:prstGeom prst="roundRect">
            <a:avLst/>
          </a:prstGeom>
          <a:solidFill>
            <a:srgbClr val="E7F3F4"/>
          </a:solidFill>
          <a:ln>
            <a:solidFill>
              <a:srgbClr val="E7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5724144"/>
            <a:ext cx="1828800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087F8C"/>
                </a:solidFill>
                <a:latin typeface="Arial"/>
              </a:rPr>
              <a:t>Sensor read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62656" y="5687568"/>
            <a:ext cx="192024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08376" y="5724144"/>
            <a:ext cx="1828800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2D7D5B"/>
                </a:solidFill>
                <a:latin typeface="Arial"/>
              </a:rPr>
              <a:t>DMA complete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5687568"/>
            <a:ext cx="192024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5724144"/>
            <a:ext cx="1828800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B6423C"/>
                </a:solidFill>
                <a:latin typeface="Arial"/>
              </a:rPr>
              <a:t>AES-CTR done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61504" y="5687568"/>
            <a:ext cx="192024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5724144"/>
            <a:ext cx="1828800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17324D"/>
                </a:solidFill>
                <a:latin typeface="Arial"/>
              </a:rPr>
              <a:t>UART 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10928" y="5687568"/>
            <a:ext cx="192024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56648" y="5724144"/>
            <a:ext cx="1828800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D6A23B"/>
                </a:solidFill>
                <a:latin typeface="Arial"/>
              </a:rPr>
              <a:t>IRQ + sleep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087F8C"/>
                </a:solidFill>
                <a:latin typeface="Arial"/>
              </a:rPr>
              <a:t>REGRESSION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17324D"/>
                </a:solidFill>
                <a:latin typeface="Arial"/>
              </a:rPr>
              <a:t>Verification closure: multiple proofs, one consistent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713232" cy="50292"/>
          </a:xfrm>
          <a:prstGeom prst="rect">
            <a:avLst/>
          </a:prstGeom>
          <a:solidFill>
            <a:srgbClr val="B6423C"/>
          </a:solidFill>
          <a:ln>
            <a:solidFill>
              <a:srgbClr val="B6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11480" y="6473952"/>
            <a:ext cx="11365992" cy="0"/>
          </a:xfrm>
          <a:prstGeom prst="line">
            <a:avLst/>
          </a:prstGeom>
          <a:ln w="1016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oep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6510528"/>
            <a:ext cx="256032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519672"/>
            <a:ext cx="292608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>
                <a:solidFill>
                  <a:srgbClr val="607080"/>
                </a:solidFill>
                <a:latin typeface="Arial"/>
              </a:rPr>
              <a:t>COEP Technological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6519672"/>
            <a:ext cx="3931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607080"/>
                </a:solidFill>
                <a:latin typeface="Arial"/>
              </a:rPr>
              <a:t>M.Tech Thesis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95000"/>
              </a:lnSpc>
            </a:pPr>
            <a:r>
              <a:rPr sz="900" b="1">
                <a:solidFill>
                  <a:srgbClr val="17324D"/>
                </a:solidFill>
                <a:latin typeface="Arial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53312"/>
            <a:ext cx="248716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9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1444752"/>
            <a:ext cx="223113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500" b="1">
                <a:solidFill>
                  <a:srgbClr val="087F8C"/>
                </a:solidFill>
                <a:latin typeface="Arial"/>
              </a:rPr>
              <a:t>107 /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938528"/>
            <a:ext cx="2267712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1D2730"/>
                </a:solidFill>
                <a:latin typeface="Arial"/>
              </a:rPr>
              <a:t>integrated RTL checks PASS / FAIL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194560"/>
            <a:ext cx="2267712" cy="1554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50" b="0">
                <a:solidFill>
                  <a:srgbClr val="607080"/>
                </a:solidFill>
                <a:latin typeface="Arial"/>
              </a:rPr>
              <a:t>CPU + AES + peripherals + scenario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353312"/>
            <a:ext cx="248716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9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1444752"/>
            <a:ext cx="223113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500" b="1">
                <a:solidFill>
                  <a:srgbClr val="B6423C"/>
                </a:solidFill>
                <a:latin typeface="Arial"/>
              </a:rP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1938528"/>
            <a:ext cx="2267712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1D2730"/>
                </a:solidFill>
                <a:latin typeface="Arial"/>
              </a:rPr>
              <a:t>random UVM transactions 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194560"/>
            <a:ext cx="2267712" cy="1554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50" b="0">
                <a:solidFill>
                  <a:srgbClr val="607080"/>
                </a:solidFill>
                <a:latin typeface="Arial"/>
              </a:rPr>
              <a:t>RTL vs C-DPI + UART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1353312"/>
            <a:ext cx="248716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9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79" y="1444752"/>
            <a:ext cx="223113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500" b="1">
                <a:solidFill>
                  <a:srgbClr val="17324D"/>
                </a:solidFill>
                <a:latin typeface="Arial"/>
              </a:rPr>
              <a:t>114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1938528"/>
            <a:ext cx="2267712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1D2730"/>
                </a:solidFill>
                <a:latin typeface="Arial"/>
              </a:rPr>
              <a:t>planned coverage bins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2194560"/>
            <a:ext cx="2267712" cy="1554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50" b="0">
                <a:solidFill>
                  <a:srgbClr val="607080"/>
                </a:solidFill>
                <a:latin typeface="Arial"/>
              </a:rPr>
              <a:t>portable collector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7696" y="1353312"/>
            <a:ext cx="248716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9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1444752"/>
            <a:ext cx="223113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500" b="1">
                <a:solidFill>
                  <a:srgbClr val="D6A23B"/>
                </a:solidFill>
                <a:latin typeface="Arial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424" y="1938528"/>
            <a:ext cx="2267712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1D2730"/>
                </a:solidFill>
                <a:latin typeface="Arial"/>
              </a:rPr>
              <a:t>verification layers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7424" y="2194560"/>
            <a:ext cx="2267712" cy="1554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50" b="0">
                <a:solidFill>
                  <a:srgbClr val="607080"/>
                </a:solidFill>
                <a:latin typeface="Arial"/>
              </a:rPr>
              <a:t>primitive to Full-SoC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2834640"/>
            <a:ext cx="5285232" cy="3017520"/>
          </a:xfrm>
          <a:prstGeom prst="rect">
            <a:avLst/>
          </a:prstGeom>
          <a:solidFill>
            <a:srgbClr val="000000"/>
          </a:solidFill>
          <a:ln>
            <a:solidFill>
              <a:srgbClr val="D5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wave_cov_closu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910281"/>
            <a:ext cx="5285232" cy="2866236"/>
          </a:xfrm>
          <a:prstGeom prst="rect">
            <a:avLst/>
          </a:prstGeom>
          <a:ln w="10160">
            <a:solidFill>
              <a:srgbClr val="D5DEE4"/>
            </a:solidFill>
          </a:ln>
        </p:spPr>
      </p:pic>
      <p:sp>
        <p:nvSpPr>
          <p:cNvPr id="28" name="Rectangle 27"/>
          <p:cNvSpPr/>
          <p:nvPr/>
        </p:nvSpPr>
        <p:spPr>
          <a:xfrm>
            <a:off x="6245352" y="2834640"/>
            <a:ext cx="5285232" cy="3017520"/>
          </a:xfrm>
          <a:prstGeom prst="rect">
            <a:avLst/>
          </a:prstGeom>
          <a:solidFill>
            <a:srgbClr val="000000"/>
          </a:solidFill>
          <a:ln>
            <a:solidFill>
              <a:srgbClr val="D5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wave_uvm_scoreboar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2910281"/>
            <a:ext cx="5285232" cy="2866236"/>
          </a:xfrm>
          <a:prstGeom prst="rect">
            <a:avLst/>
          </a:prstGeom>
          <a:ln w="10160">
            <a:solidFill>
              <a:srgbClr val="D5DEE4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087F8C"/>
                </a:solidFill>
                <a:latin typeface="Arial"/>
              </a:rPr>
              <a:t>QUARTUS 23.1 · CYCLONE V · COMPLETE SOC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17324D"/>
                </a:solidFill>
                <a:latin typeface="Arial"/>
              </a:rPr>
              <a:t>Integrated FPGA result: fits and meets 50 MHz timing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713232" cy="50292"/>
          </a:xfrm>
          <a:prstGeom prst="rect">
            <a:avLst/>
          </a:prstGeom>
          <a:solidFill>
            <a:srgbClr val="B6423C"/>
          </a:solidFill>
          <a:ln>
            <a:solidFill>
              <a:srgbClr val="B6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11480" y="6473952"/>
            <a:ext cx="11365992" cy="0"/>
          </a:xfrm>
          <a:prstGeom prst="line">
            <a:avLst/>
          </a:prstGeom>
          <a:ln w="1016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oep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6510528"/>
            <a:ext cx="256032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519672"/>
            <a:ext cx="292608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>
                <a:solidFill>
                  <a:srgbClr val="607080"/>
                </a:solidFill>
                <a:latin typeface="Arial"/>
              </a:rPr>
              <a:t>COEP Technological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6519672"/>
            <a:ext cx="3931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607080"/>
                </a:solidFill>
                <a:latin typeface="Arial"/>
              </a:rPr>
              <a:t>M.Tech Thesis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95000"/>
              </a:lnSpc>
            </a:pPr>
            <a:r>
              <a:rPr sz="900" b="1">
                <a:solidFill>
                  <a:srgbClr val="17324D"/>
                </a:solidFill>
                <a:latin typeface="Arial"/>
              </a:rP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143000"/>
            <a:ext cx="3685032" cy="29992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art_soc_utiliz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72767"/>
            <a:ext cx="3685032" cy="213969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434840" y="1143000"/>
            <a:ext cx="3685032" cy="29992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art_soc_tim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572767"/>
            <a:ext cx="3685032" cy="213969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302752" y="1143000"/>
            <a:ext cx="3310128" cy="29992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hart_soc_power_breakdow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1682510"/>
            <a:ext cx="3310127" cy="192021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31520" y="4498848"/>
            <a:ext cx="23317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9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4590288"/>
            <a:ext cx="2075687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500" b="1">
                <a:solidFill>
                  <a:srgbClr val="087F8C"/>
                </a:solidFill>
                <a:latin typeface="Arial"/>
              </a:rPr>
              <a:t>13,257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5084064"/>
            <a:ext cx="2112263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1D2730"/>
                </a:solidFill>
                <a:latin typeface="Arial"/>
              </a:rPr>
              <a:t>ALMs · 23%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6120" y="4498848"/>
            <a:ext cx="23317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9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74136" y="4590288"/>
            <a:ext cx="2075687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500" b="1">
                <a:solidFill>
                  <a:srgbClr val="17324D"/>
                </a:solidFill>
                <a:latin typeface="Arial"/>
              </a:rPr>
              <a:t>11,154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5848" y="5084064"/>
            <a:ext cx="2112263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1D2730"/>
                </a:solidFill>
                <a:latin typeface="Arial"/>
              </a:rPr>
              <a:t>registers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4498848"/>
            <a:ext cx="23317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9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88736" y="4590288"/>
            <a:ext cx="2075687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500" b="1">
                <a:solidFill>
                  <a:srgbClr val="2D7D5B"/>
                </a:solidFill>
                <a:latin typeface="Arial"/>
              </a:rPr>
              <a:t>+2.577 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70448" y="5084064"/>
            <a:ext cx="2112263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1D2730"/>
                </a:solidFill>
                <a:latin typeface="Arial"/>
              </a:rPr>
              <a:t>worst setup slack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4498848"/>
            <a:ext cx="23317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9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03336" y="4590288"/>
            <a:ext cx="2075687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500" b="1">
                <a:solidFill>
                  <a:srgbClr val="B6423C"/>
                </a:solidFill>
                <a:latin typeface="Arial"/>
              </a:rPr>
              <a:t>519.72 mW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5048" y="5084064"/>
            <a:ext cx="2112263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1D2730"/>
                </a:solidFill>
                <a:latin typeface="Arial"/>
              </a:rPr>
              <a:t>vectorless estimate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5340096"/>
            <a:ext cx="2112263" cy="1554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50" b="0">
                <a:solidFill>
                  <a:srgbClr val="607080"/>
                </a:solidFill>
                <a:latin typeface="Arial"/>
              </a:rPr>
              <a:t>low confidence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55264" y="5879592"/>
            <a:ext cx="5715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>
                <a:solidFill>
                  <a:srgbClr val="607080"/>
                </a:solidFill>
                <a:latin typeface="Arial"/>
              </a:rPr>
              <a:t>No DSP · no block RAM · no timing violations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087F8C"/>
                </a:solidFill>
                <a:latin typeface="Arial"/>
              </a:rPr>
              <a:t>QUARTUS NETLIST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17324D"/>
                </a:solidFill>
                <a:latin typeface="Arial"/>
              </a:rPr>
              <a:t>Synthesis retains the complete integration hierarchy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713232" cy="50292"/>
          </a:xfrm>
          <a:prstGeom prst="rect">
            <a:avLst/>
          </a:prstGeom>
          <a:solidFill>
            <a:srgbClr val="B6423C"/>
          </a:solidFill>
          <a:ln>
            <a:solidFill>
              <a:srgbClr val="B6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11480" y="6473952"/>
            <a:ext cx="11365992" cy="0"/>
          </a:xfrm>
          <a:prstGeom prst="line">
            <a:avLst/>
          </a:prstGeom>
          <a:ln w="1016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oep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6510528"/>
            <a:ext cx="256032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519672"/>
            <a:ext cx="292608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>
                <a:solidFill>
                  <a:srgbClr val="607080"/>
                </a:solidFill>
                <a:latin typeface="Arial"/>
              </a:rPr>
              <a:t>COEP Technological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6519672"/>
            <a:ext cx="3931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607080"/>
                </a:solidFill>
                <a:latin typeface="Arial"/>
              </a:rPr>
              <a:t>M.Tech Thesis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95000"/>
              </a:lnSpc>
            </a:pPr>
            <a:r>
              <a:rPr sz="900" b="1">
                <a:solidFill>
                  <a:srgbClr val="17324D"/>
                </a:solidFill>
                <a:latin typeface="Arial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078992"/>
            <a:ext cx="6903720" cy="5010912"/>
          </a:xfrm>
          <a:prstGeom prst="rect">
            <a:avLst/>
          </a:prstGeom>
          <a:solidFill>
            <a:srgbClr val="FFFFFF"/>
          </a:solidFill>
          <a:ln>
            <a:solidFill>
              <a:srgbClr val="D5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etli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44803"/>
            <a:ext cx="6903720" cy="3679288"/>
          </a:xfrm>
          <a:prstGeom prst="rect">
            <a:avLst/>
          </a:prstGeom>
          <a:ln w="10160">
            <a:solidFill>
              <a:srgbClr val="D5DEE4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7589520" y="1078992"/>
            <a:ext cx="4041648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5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em_netlis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167868"/>
            <a:ext cx="4041648" cy="2153967"/>
          </a:xfrm>
          <a:prstGeom prst="rect">
            <a:avLst/>
          </a:prstGeom>
          <a:ln w="10160">
            <a:solidFill>
              <a:srgbClr val="D5DEE4"/>
            </a:solidFill>
          </a:ln>
        </p:spPr>
      </p:pic>
      <p:sp>
        <p:nvSpPr>
          <p:cNvPr id="14" name="Rectangle 13"/>
          <p:cNvSpPr/>
          <p:nvPr/>
        </p:nvSpPr>
        <p:spPr>
          <a:xfrm>
            <a:off x="7589520" y="3657600"/>
            <a:ext cx="4041648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5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ex_netlis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3746476"/>
            <a:ext cx="4041648" cy="2153967"/>
          </a:xfrm>
          <a:prstGeom prst="rect">
            <a:avLst/>
          </a:prstGeom>
          <a:ln w="10160">
            <a:solidFill>
              <a:srgbClr val="D5DEE4"/>
            </a:solidFill>
          </a:ln>
        </p:spPr>
      </p:pic>
      <p:sp>
        <p:nvSpPr>
          <p:cNvPr id="16" name="Rounded Rectangle 15"/>
          <p:cNvSpPr/>
          <p:nvPr/>
        </p:nvSpPr>
        <p:spPr>
          <a:xfrm>
            <a:off x="7900416" y="3246120"/>
            <a:ext cx="3401568" cy="347472"/>
          </a:xfrm>
          <a:prstGeom prst="roundRect">
            <a:avLst/>
          </a:prstGeom>
          <a:solidFill>
            <a:srgbClr val="E7F3F4"/>
          </a:solidFill>
          <a:ln>
            <a:solidFill>
              <a:srgbClr val="E7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46136" y="3282696"/>
            <a:ext cx="3310128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087F8C"/>
                </a:solidFill>
                <a:latin typeface="Arial"/>
              </a:rPr>
              <a:t>MEM: RAM + MMIO + peripherals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0416" y="5815584"/>
            <a:ext cx="3401568" cy="347472"/>
          </a:xfrm>
          <a:prstGeom prst="roundRect">
            <a:avLst/>
          </a:prstGeom>
          <a:solidFill>
            <a:srgbClr val="EAF0F5"/>
          </a:solidFill>
          <a:ln>
            <a:solidFill>
              <a:srgbClr val="EA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46136" y="5852160"/>
            <a:ext cx="3310128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17324D"/>
                </a:solidFill>
                <a:latin typeface="Arial"/>
              </a:rPr>
              <a:t>EX: forwarding + ALU + branch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087F8C"/>
                </a:solidFill>
                <a:latin typeface="Arial"/>
              </a:rPr>
              <a:t>CADENCE GENUS · GPDK045 HVT · COMPLETE SOC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17324D"/>
                </a:solidFill>
                <a:latin typeface="Arial"/>
              </a:rPr>
              <a:t>Complete SoC HVT synthesis: timing met at the slow corner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713232" cy="50292"/>
          </a:xfrm>
          <a:prstGeom prst="rect">
            <a:avLst/>
          </a:prstGeom>
          <a:solidFill>
            <a:srgbClr val="B6423C"/>
          </a:solidFill>
          <a:ln>
            <a:solidFill>
              <a:srgbClr val="B6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11480" y="6473952"/>
            <a:ext cx="11365992" cy="0"/>
          </a:xfrm>
          <a:prstGeom prst="line">
            <a:avLst/>
          </a:prstGeom>
          <a:ln w="1016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oep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6510528"/>
            <a:ext cx="256032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519672"/>
            <a:ext cx="292608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>
                <a:solidFill>
                  <a:srgbClr val="607080"/>
                </a:solidFill>
                <a:latin typeface="Arial"/>
              </a:rPr>
              <a:t>COEP Technological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6519672"/>
            <a:ext cx="3931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607080"/>
                </a:solidFill>
                <a:latin typeface="Arial"/>
              </a:rPr>
              <a:t>M.Tech Thesis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95000"/>
              </a:lnSpc>
            </a:pPr>
            <a:r>
              <a:rPr sz="900" b="1">
                <a:solidFill>
                  <a:srgbClr val="17324D"/>
                </a:solidFill>
                <a:latin typeface="Arial"/>
              </a:rPr>
              <a:t>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15568"/>
            <a:ext cx="3566160" cy="2596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art_genus_hvt_cell_m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311" y="1115568"/>
            <a:ext cx="2525376" cy="259689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315968" y="1115568"/>
            <a:ext cx="3566160" cy="2596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art_genus_hvt_timing_bud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1399999"/>
            <a:ext cx="3566160" cy="202803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129016" y="1115568"/>
            <a:ext cx="3566160" cy="2596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hart_genus_hvt_pow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9016" y="1337478"/>
            <a:ext cx="3566160" cy="215307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13232" y="4224528"/>
            <a:ext cx="248716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9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315968"/>
            <a:ext cx="223113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500" b="1">
                <a:solidFill>
                  <a:srgbClr val="087F8C"/>
                </a:solidFill>
                <a:latin typeface="Arial"/>
              </a:rPr>
              <a:t>50,968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09744"/>
            <a:ext cx="2267712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1D2730"/>
                </a:solidFill>
                <a:latin typeface="Arial"/>
              </a:rPr>
              <a:t>mapped leaf cells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65576" y="4224528"/>
            <a:ext cx="248716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9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3592" y="4315968"/>
            <a:ext cx="223113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500" b="1">
                <a:solidFill>
                  <a:srgbClr val="17324D"/>
                </a:solidFill>
                <a:latin typeface="Arial"/>
              </a:rPr>
              <a:t>135,947.6 µm²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5304" y="4809744"/>
            <a:ext cx="2267712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1D2730"/>
                </a:solidFill>
                <a:latin typeface="Arial"/>
              </a:rPr>
              <a:t>cell area · pre-layout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224528"/>
            <a:ext cx="248716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9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4315968"/>
            <a:ext cx="223113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500" b="1">
                <a:solidFill>
                  <a:srgbClr val="2D7D5B"/>
                </a:solidFill>
                <a:latin typeface="Arial"/>
              </a:rPr>
              <a:t>+2.315 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4809744"/>
            <a:ext cx="2267712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1D2730"/>
                </a:solidFill>
                <a:latin typeface="Arial"/>
              </a:rPr>
              <a:t>setup slack at 50 MHz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0264" y="4224528"/>
            <a:ext cx="248716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9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4315968"/>
            <a:ext cx="2231136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500" b="1">
                <a:solidFill>
                  <a:srgbClr val="B6423C"/>
                </a:solidFill>
                <a:latin typeface="Arial"/>
              </a:rPr>
              <a:t>1.43753 mW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9992" y="4809744"/>
            <a:ext cx="2267712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1D2730"/>
                </a:solidFill>
                <a:latin typeface="Arial"/>
              </a:rPr>
              <a:t>vectorless total power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9992" y="5065776"/>
            <a:ext cx="2267712" cy="1554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50" b="0">
                <a:solidFill>
                  <a:srgbClr val="607080"/>
                </a:solidFill>
                <a:latin typeface="Arial"/>
              </a:rPr>
              <a:t>synthesis-stage estimate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087F8C"/>
                </a:solidFill>
                <a:latin typeface="Arial"/>
              </a:rPr>
              <a:t>CADENCE GENUS NETLIST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17324D"/>
                </a:solidFill>
                <a:latin typeface="Arial"/>
              </a:rPr>
              <a:t>Technology-mapped view of the complete security processor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713232" cy="50292"/>
          </a:xfrm>
          <a:prstGeom prst="rect">
            <a:avLst/>
          </a:prstGeom>
          <a:solidFill>
            <a:srgbClr val="B6423C"/>
          </a:solidFill>
          <a:ln>
            <a:solidFill>
              <a:srgbClr val="B6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11480" y="6473952"/>
            <a:ext cx="11365992" cy="0"/>
          </a:xfrm>
          <a:prstGeom prst="line">
            <a:avLst/>
          </a:prstGeom>
          <a:ln w="1016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oep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6510528"/>
            <a:ext cx="256032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519672"/>
            <a:ext cx="292608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>
                <a:solidFill>
                  <a:srgbClr val="607080"/>
                </a:solidFill>
                <a:latin typeface="Arial"/>
              </a:rPr>
              <a:t>COEP Technological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6519672"/>
            <a:ext cx="3931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607080"/>
                </a:solidFill>
                <a:latin typeface="Arial"/>
              </a:rPr>
              <a:t>M.Tech Thesis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95000"/>
              </a:lnSpc>
            </a:pPr>
            <a:r>
              <a:rPr sz="900" b="1">
                <a:solidFill>
                  <a:srgbClr val="17324D"/>
                </a:solidFill>
                <a:latin typeface="Arial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1051560"/>
            <a:ext cx="8458200" cy="5074920"/>
          </a:xfrm>
          <a:prstGeom prst="roundRect">
            <a:avLst/>
          </a:prstGeom>
          <a:solidFill>
            <a:srgbClr val="000000"/>
          </a:solidFill>
          <a:ln>
            <a:solidFill>
              <a:srgbClr val="344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161288"/>
            <a:ext cx="8220456" cy="48188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enus_hvt_gui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291"/>
            <a:ext cx="8220456" cy="467288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162288" y="1188720"/>
            <a:ext cx="2450592" cy="1115568"/>
          </a:xfrm>
          <a:prstGeom prst="roundRect">
            <a:avLst/>
          </a:prstGeom>
          <a:solidFill>
            <a:srgbClr val="E7F3F4"/>
          </a:solidFill>
          <a:ln>
            <a:solidFill>
              <a:srgbClr val="C4D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45168" y="1371600"/>
            <a:ext cx="2084831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400" b="1">
                <a:solidFill>
                  <a:srgbClr val="087F8C"/>
                </a:solidFill>
                <a:latin typeface="Arial"/>
              </a:rPr>
              <a:t>50,968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45168" y="1810512"/>
            <a:ext cx="2084831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1D2730"/>
                </a:solidFill>
                <a:latin typeface="Arial"/>
              </a:rPr>
              <a:t>mapped HVT leaf cells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62288" y="2542032"/>
            <a:ext cx="2450592" cy="1115568"/>
          </a:xfrm>
          <a:prstGeom prst="roundRect">
            <a:avLst/>
          </a:prstGeom>
          <a:solidFill>
            <a:srgbClr val="EAF0F5"/>
          </a:solidFill>
          <a:ln>
            <a:solidFill>
              <a:srgbClr val="CE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45168" y="2724912"/>
            <a:ext cx="2084831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400" b="1">
                <a:solidFill>
                  <a:srgbClr val="17324D"/>
                </a:solidFill>
                <a:latin typeface="Arial"/>
              </a:rPr>
              <a:t>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5168" y="3163824"/>
            <a:ext cx="2084831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1D2730"/>
                </a:solidFill>
                <a:latin typeface="Arial"/>
              </a:rPr>
              <a:t>retained hierarchies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62288" y="3895344"/>
            <a:ext cx="2450592" cy="1115568"/>
          </a:xfrm>
          <a:prstGeom prst="roundRect">
            <a:avLst/>
          </a:prstGeom>
          <a:solidFill>
            <a:srgbClr val="FBF3DF"/>
          </a:solidFill>
          <a:ln>
            <a:solidFill>
              <a:srgbClr val="E8D6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5168" y="4078224"/>
            <a:ext cx="2084831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400" b="1">
                <a:solidFill>
                  <a:srgbClr val="D6A23B"/>
                </a:solidFill>
                <a:latin typeface="Arial"/>
              </a:rPr>
              <a:t>HVT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5168" y="4517136"/>
            <a:ext cx="2084831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1D2730"/>
                </a:solidFill>
                <a:latin typeface="Arial"/>
              </a:rPr>
              <a:t>GPDK045 mapped cells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62288" y="5239512"/>
            <a:ext cx="2450592" cy="658368"/>
          </a:xfrm>
          <a:prstGeom prst="round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2" y="5321808"/>
            <a:ext cx="215798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FFFFFF"/>
                </a:solidFill>
                <a:latin typeface="Arial"/>
              </a:rPr>
              <a:t>Structural evidence</a:t>
            </a:r>
            <a:br/>
            <a:r>
              <a:rPr sz="1050" b="1">
                <a:solidFill>
                  <a:srgbClr val="FFFFFF"/>
                </a:solidFill>
                <a:latin typeface="Arial"/>
              </a:rPr>
              <a:t>not a placed layout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087F8C"/>
                </a:solidFill>
                <a:latin typeface="Arial"/>
              </a:rPr>
              <a:t>INTERPRETATION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17324D"/>
                </a:solidFill>
                <a:latin typeface="Arial"/>
              </a:rPr>
              <a:t>Three result domains answer three different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713232" cy="50292"/>
          </a:xfrm>
          <a:prstGeom prst="rect">
            <a:avLst/>
          </a:prstGeom>
          <a:solidFill>
            <a:srgbClr val="B6423C"/>
          </a:solidFill>
          <a:ln>
            <a:solidFill>
              <a:srgbClr val="B6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11480" y="6473952"/>
            <a:ext cx="11365992" cy="0"/>
          </a:xfrm>
          <a:prstGeom prst="line">
            <a:avLst/>
          </a:prstGeom>
          <a:ln w="1016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oep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6510528"/>
            <a:ext cx="256032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519672"/>
            <a:ext cx="292608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>
                <a:solidFill>
                  <a:srgbClr val="607080"/>
                </a:solidFill>
                <a:latin typeface="Arial"/>
              </a:rPr>
              <a:t>COEP Technological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6519672"/>
            <a:ext cx="3931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607080"/>
                </a:solidFill>
                <a:latin typeface="Arial"/>
              </a:rPr>
              <a:t>M.Tech Thesis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95000"/>
              </a:lnSpc>
            </a:pPr>
            <a:r>
              <a:rPr sz="900" b="1">
                <a:solidFill>
                  <a:srgbClr val="17324D"/>
                </a:solidFill>
                <a:latin typeface="Arial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261872"/>
            <a:ext cx="3273552" cy="4443984"/>
          </a:xfrm>
          <a:prstGeom prst="roundRect">
            <a:avLst/>
          </a:prstGeom>
          <a:solidFill>
            <a:srgbClr val="FFFFFF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261872"/>
            <a:ext cx="3273552" cy="713232"/>
          </a:xfrm>
          <a:prstGeom prst="rect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399032"/>
            <a:ext cx="294436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900" b="1">
                <a:solidFill>
                  <a:srgbClr val="FFFFFF"/>
                </a:solidFill>
                <a:latin typeface="Arial"/>
              </a:rPr>
              <a:t>AES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212848"/>
            <a:ext cx="2761488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400" b="1">
                <a:solidFill>
                  <a:srgbClr val="17324D"/>
                </a:solidFill>
                <a:latin typeface="Arial"/>
              </a:rPr>
              <a:t>Cadence Genus</a:t>
            </a:r>
            <a:br/>
            <a:r>
              <a:rPr sz="1400" b="1">
                <a:solidFill>
                  <a:srgbClr val="17324D"/>
                </a:solidFill>
                <a:latin typeface="Arial"/>
              </a:rPr>
              <a:t>TSMC 55 nm RVT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072384"/>
            <a:ext cx="2724912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300" b="0">
                <a:solidFill>
                  <a:srgbClr val="1D2730"/>
                </a:solidFill>
                <a:latin typeface="Arial"/>
              </a:rPr>
              <a:t>Does reuse reduce</a:t>
            </a:r>
            <a:br/>
            <a:r>
              <a:rPr sz="1300" b="0">
                <a:solidFill>
                  <a:srgbClr val="1D2730"/>
                </a:solidFill>
                <a:latin typeface="Arial"/>
              </a:rPr>
              <a:t>AES area and power?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78992" y="4261104"/>
            <a:ext cx="2542032" cy="950976"/>
          </a:xfrm>
          <a:prstGeom prst="roundRect">
            <a:avLst/>
          </a:prstGeom>
          <a:solidFill>
            <a:srgbClr val="F3F6F8"/>
          </a:solidFill>
          <a:ln>
            <a:solidFill>
              <a:srgbClr val="F3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370832"/>
            <a:ext cx="2359152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800" b="1">
                <a:solidFill>
                  <a:srgbClr val="087F8C"/>
                </a:solidFill>
                <a:latin typeface="Arial"/>
              </a:rPr>
              <a:t>2,694 cells</a:t>
            </a:r>
            <a:br/>
            <a:r>
              <a:rPr sz="1800" b="1">
                <a:solidFill>
                  <a:srgbClr val="087F8C"/>
                </a:solidFill>
                <a:latin typeface="Arial"/>
              </a:rPr>
              <a:t>0.853 mW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53712" y="1261872"/>
            <a:ext cx="3273552" cy="4443984"/>
          </a:xfrm>
          <a:prstGeom prst="roundRect">
            <a:avLst/>
          </a:prstGeom>
          <a:solidFill>
            <a:srgbClr val="FFFFFF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53712" y="1261872"/>
            <a:ext cx="3273552" cy="713232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18304" y="1399032"/>
            <a:ext cx="294436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900" b="1">
                <a:solidFill>
                  <a:srgbClr val="FFFFFF"/>
                </a:solidFill>
                <a:latin typeface="Arial"/>
              </a:rPr>
              <a:t>FPGA SoC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9744" y="2212848"/>
            <a:ext cx="2761488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400" b="1">
                <a:solidFill>
                  <a:srgbClr val="17324D"/>
                </a:solidFill>
                <a:latin typeface="Arial"/>
              </a:rPr>
              <a:t>Quartus 23.1</a:t>
            </a:r>
            <a:br/>
            <a:r>
              <a:rPr sz="1400" b="1">
                <a:solidFill>
                  <a:srgbClr val="17324D"/>
                </a:solidFill>
                <a:latin typeface="Arial"/>
              </a:rPr>
              <a:t>Cyclone 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8032" y="3072384"/>
            <a:ext cx="2724912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300" b="0">
                <a:solidFill>
                  <a:srgbClr val="1D2730"/>
                </a:solidFill>
                <a:latin typeface="Arial"/>
              </a:rPr>
              <a:t>Does the integrated RTL</a:t>
            </a:r>
            <a:br/>
            <a:r>
              <a:rPr sz="1300" b="0">
                <a:solidFill>
                  <a:srgbClr val="1D2730"/>
                </a:solidFill>
                <a:latin typeface="Arial"/>
              </a:rPr>
              <a:t>fit and meet timing?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19472" y="4261104"/>
            <a:ext cx="2542032" cy="950976"/>
          </a:xfrm>
          <a:prstGeom prst="roundRect">
            <a:avLst/>
          </a:prstGeom>
          <a:solidFill>
            <a:srgbClr val="F3F6F8"/>
          </a:solidFill>
          <a:ln>
            <a:solidFill>
              <a:srgbClr val="F3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10912" y="4370832"/>
            <a:ext cx="2359152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800" b="1">
                <a:solidFill>
                  <a:srgbClr val="17324D"/>
                </a:solidFill>
                <a:latin typeface="Arial"/>
              </a:rPr>
              <a:t>13,257 ALMs</a:t>
            </a:r>
            <a:br/>
            <a:r>
              <a:rPr sz="1800" b="1">
                <a:solidFill>
                  <a:srgbClr val="17324D"/>
                </a:solidFill>
                <a:latin typeface="Arial"/>
              </a:rPr>
              <a:t>+2.577 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94192" y="1261872"/>
            <a:ext cx="3273552" cy="4443984"/>
          </a:xfrm>
          <a:prstGeom prst="roundRect">
            <a:avLst/>
          </a:prstGeom>
          <a:solidFill>
            <a:srgbClr val="FFFFFF"/>
          </a:solidFill>
          <a:ln>
            <a:solidFill>
              <a:srgbClr val="B6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94192" y="1261872"/>
            <a:ext cx="3273552" cy="713232"/>
          </a:xfrm>
          <a:prstGeom prst="rect">
            <a:avLst/>
          </a:prstGeom>
          <a:solidFill>
            <a:srgbClr val="B6423C"/>
          </a:solidFill>
          <a:ln>
            <a:solidFill>
              <a:srgbClr val="B6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58784" y="1399032"/>
            <a:ext cx="294436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900" b="1">
                <a:solidFill>
                  <a:srgbClr val="FFFFFF"/>
                </a:solidFill>
                <a:latin typeface="Arial"/>
              </a:rPr>
              <a:t>ASIC-style SoC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50224" y="2212848"/>
            <a:ext cx="2761488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400" b="1">
                <a:solidFill>
                  <a:srgbClr val="17324D"/>
                </a:solidFill>
                <a:latin typeface="Arial"/>
              </a:rPr>
              <a:t>Cadence Genus</a:t>
            </a:r>
            <a:br/>
            <a:r>
              <a:rPr sz="1400" b="1">
                <a:solidFill>
                  <a:srgbClr val="17324D"/>
                </a:solidFill>
                <a:latin typeface="Arial"/>
              </a:rPr>
              <a:t>GPDK045 HVT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68512" y="3072384"/>
            <a:ext cx="2724912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300" b="0">
                <a:solidFill>
                  <a:srgbClr val="1D2730"/>
                </a:solidFill>
                <a:latin typeface="Arial"/>
              </a:rPr>
              <a:t>How does the complete</a:t>
            </a:r>
            <a:br/>
            <a:r>
              <a:rPr sz="1300" b="0">
                <a:solidFill>
                  <a:srgbClr val="1D2730"/>
                </a:solidFill>
                <a:latin typeface="Arial"/>
              </a:rPr>
              <a:t>SoC map to HVT cells?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59952" y="4261104"/>
            <a:ext cx="2542032" cy="950976"/>
          </a:xfrm>
          <a:prstGeom prst="roundRect">
            <a:avLst/>
          </a:prstGeom>
          <a:solidFill>
            <a:srgbClr val="F3F6F8"/>
          </a:solidFill>
          <a:ln>
            <a:solidFill>
              <a:srgbClr val="F3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51392" y="4370832"/>
            <a:ext cx="2359152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800" b="1">
                <a:solidFill>
                  <a:srgbClr val="B6423C"/>
                </a:solidFill>
                <a:latin typeface="Arial"/>
              </a:rPr>
              <a:t>50,968 cells</a:t>
            </a:r>
            <a:br/>
            <a:r>
              <a:rPr sz="1800" b="1">
                <a:solidFill>
                  <a:srgbClr val="B6423C"/>
                </a:solidFill>
                <a:latin typeface="Arial"/>
              </a:rPr>
              <a:t>+2.315 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907024"/>
            <a:ext cx="8732520" cy="2834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" b="1">
                <a:solidFill>
                  <a:srgbClr val="607080"/>
                </a:solidFill>
                <a:latin typeface="Arial"/>
              </a:rPr>
              <a:t>Do not compare unlike technology, scope, activity, or implementation stages.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087F8C"/>
                </a:solidFill>
                <a:latin typeface="Arial"/>
              </a:rPr>
              <a:t>ENGINEERING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17324D"/>
                </a:solidFill>
                <a:latin typeface="Arial"/>
              </a:rPr>
              <a:t>Low power is architectural first, physical later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713232" cy="50292"/>
          </a:xfrm>
          <a:prstGeom prst="rect">
            <a:avLst/>
          </a:prstGeom>
          <a:solidFill>
            <a:srgbClr val="B6423C"/>
          </a:solidFill>
          <a:ln>
            <a:solidFill>
              <a:srgbClr val="B6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11480" y="6473952"/>
            <a:ext cx="11365992" cy="0"/>
          </a:xfrm>
          <a:prstGeom prst="line">
            <a:avLst/>
          </a:prstGeom>
          <a:ln w="1016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oep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6510528"/>
            <a:ext cx="256032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519672"/>
            <a:ext cx="292608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>
                <a:solidFill>
                  <a:srgbClr val="607080"/>
                </a:solidFill>
                <a:latin typeface="Arial"/>
              </a:rPr>
              <a:t>COEP Technological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6519672"/>
            <a:ext cx="3931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607080"/>
                </a:solidFill>
                <a:latin typeface="Arial"/>
              </a:rPr>
              <a:t>M.Tech Thesis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95000"/>
              </a:lnSpc>
            </a:pPr>
            <a:r>
              <a:rPr sz="900" b="1">
                <a:solidFill>
                  <a:srgbClr val="17324D"/>
                </a:solidFill>
                <a:latin typeface="Arial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5303520" cy="4443984"/>
          </a:xfrm>
          <a:prstGeom prst="round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572768"/>
            <a:ext cx="4517136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900" b="1">
                <a:solidFill>
                  <a:srgbClr val="D6A23B"/>
                </a:solidFill>
                <a:latin typeface="Arial"/>
              </a:rPr>
              <a:t>Pdyn = α · C · V² · 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487168"/>
            <a:ext cx="4517136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What this RTL reduces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3017520"/>
            <a:ext cx="40690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• duplicated AES round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3493008"/>
            <a:ext cx="40690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• simultaneous active transformations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3968496"/>
            <a:ext cx="40690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• CPU software-encryption workload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4443983"/>
            <a:ext cx="40690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• idle peripheral activity through enables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1234440"/>
            <a:ext cx="5285232" cy="4443984"/>
          </a:xfrm>
          <a:prstGeom prst="roundRect">
            <a:avLst/>
          </a:prstGeom>
          <a:solidFill>
            <a:srgbClr val="F3F6F8"/>
          </a:solidFill>
          <a:ln>
            <a:solidFill>
              <a:srgbClr val="D8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609344"/>
            <a:ext cx="4590288" cy="4846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000" b="1">
                <a:solidFill>
                  <a:srgbClr val="17324D"/>
                </a:solidFill>
                <a:latin typeface="Arial"/>
              </a:rPr>
              <a:t>What still needs physical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487168"/>
            <a:ext cx="202996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>
                <a:solidFill>
                  <a:srgbClr val="087F8C"/>
                </a:solidFill>
                <a:latin typeface="Arial"/>
              </a:rPr>
              <a:t>Activity-based power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2" y="2487168"/>
            <a:ext cx="2487168" cy="2834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0">
                <a:solidFill>
                  <a:srgbClr val="607080"/>
                </a:solidFill>
                <a:latin typeface="Arial"/>
              </a:rPr>
              <a:t>VCD / SAIF from real workloads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191256"/>
            <a:ext cx="202996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>
                <a:solidFill>
                  <a:srgbClr val="087F8C"/>
                </a:solidFill>
                <a:latin typeface="Arial"/>
              </a:rPr>
              <a:t>Clock-tree effects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8512" y="3191256"/>
            <a:ext cx="2487168" cy="2834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0">
                <a:solidFill>
                  <a:srgbClr val="607080"/>
                </a:solidFill>
                <a:latin typeface="Arial"/>
              </a:rPr>
              <a:t>post-CTS switching and insertion delay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895344"/>
            <a:ext cx="202996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>
                <a:solidFill>
                  <a:srgbClr val="087F8C"/>
                </a:solidFill>
                <a:latin typeface="Arial"/>
              </a:rPr>
              <a:t>Parasitics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68512" y="3895344"/>
            <a:ext cx="2487168" cy="2834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0">
                <a:solidFill>
                  <a:srgbClr val="607080"/>
                </a:solidFill>
                <a:latin typeface="Arial"/>
              </a:rPr>
              <a:t>post-route timing and power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599432"/>
            <a:ext cx="202996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>
                <a:solidFill>
                  <a:srgbClr val="087F8C"/>
                </a:solidFill>
                <a:latin typeface="Arial"/>
              </a:rPr>
              <a:t>Voltage corners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68512" y="4599432"/>
            <a:ext cx="2487168" cy="2834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0">
                <a:solidFill>
                  <a:srgbClr val="607080"/>
                </a:solidFill>
                <a:latin typeface="Arial"/>
              </a:rPr>
              <a:t>multi-mode, multi-corner sign-off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087F8C"/>
                </a:solidFill>
                <a:latin typeface="Arial"/>
              </a:rPr>
              <a:t>LIMITATIONS AND QUALIFICATION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17324D"/>
                </a:solidFill>
                <a:latin typeface="Arial"/>
              </a:rPr>
              <a:t>From thesis prototype to automotive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713232" cy="50292"/>
          </a:xfrm>
          <a:prstGeom prst="rect">
            <a:avLst/>
          </a:prstGeom>
          <a:solidFill>
            <a:srgbClr val="B6423C"/>
          </a:solidFill>
          <a:ln>
            <a:solidFill>
              <a:srgbClr val="B6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11480" y="6473952"/>
            <a:ext cx="11365992" cy="0"/>
          </a:xfrm>
          <a:prstGeom prst="line">
            <a:avLst/>
          </a:prstGeom>
          <a:ln w="1016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oep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6510528"/>
            <a:ext cx="256032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519672"/>
            <a:ext cx="292608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>
                <a:solidFill>
                  <a:srgbClr val="607080"/>
                </a:solidFill>
                <a:latin typeface="Arial"/>
              </a:rPr>
              <a:t>COEP Technological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6519672"/>
            <a:ext cx="3931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607080"/>
                </a:solidFill>
                <a:latin typeface="Arial"/>
              </a:rPr>
              <a:t>M.Tech Thesis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95000"/>
              </a:lnSpc>
            </a:pPr>
            <a:r>
              <a:rPr sz="900" b="1">
                <a:solidFill>
                  <a:srgbClr val="17324D"/>
                </a:solidFill>
                <a:latin typeface="Arial"/>
              </a:rPr>
              <a:t>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005840"/>
            <a:ext cx="11137392" cy="4937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iagram_security_upgrade_pa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495" y="1005840"/>
            <a:ext cx="8272240" cy="4937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4672" y="5971032"/>
            <a:ext cx="105613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>
                <a:solidFill>
                  <a:srgbClr val="17324D"/>
                </a:solidFill>
                <a:latin typeface="Arial"/>
              </a:rPr>
              <a:t>Production qualification: authenticated communication · secure provisioning · fault handling · ISO 26262 · ISO/SAE 21434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087F8C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93776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17324D"/>
                </a:solidFill>
                <a:latin typeface="Arial"/>
              </a:rPr>
              <a:t>What this thesis contributes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713232" cy="50292"/>
          </a:xfrm>
          <a:prstGeom prst="rect">
            <a:avLst/>
          </a:prstGeom>
          <a:solidFill>
            <a:srgbClr val="B6423C"/>
          </a:solidFill>
          <a:ln>
            <a:solidFill>
              <a:srgbClr val="B6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11480" y="6473952"/>
            <a:ext cx="11365992" cy="0"/>
          </a:xfrm>
          <a:prstGeom prst="line">
            <a:avLst/>
          </a:prstGeom>
          <a:ln w="1016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oep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6510528"/>
            <a:ext cx="256032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519672"/>
            <a:ext cx="292608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>
                <a:solidFill>
                  <a:srgbClr val="607080"/>
                </a:solidFill>
                <a:latin typeface="Arial"/>
              </a:rPr>
              <a:t>COEP Technological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6519672"/>
            <a:ext cx="3931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>
                <a:solidFill>
                  <a:srgbClr val="607080"/>
                </a:solidFill>
                <a:latin typeface="Arial"/>
              </a:rPr>
              <a:t>M.Tech Thesis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5029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95000"/>
              </a:lnSpc>
            </a:pPr>
            <a:r>
              <a:rPr sz="900" b="1">
                <a:solidFill>
                  <a:srgbClr val="17324D"/>
                </a:solidFill>
                <a:latin typeface="Arial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225296"/>
            <a:ext cx="3255264" cy="1719072"/>
          </a:xfrm>
          <a:prstGeom prst="roundRect">
            <a:avLst/>
          </a:prstGeom>
          <a:solidFill>
            <a:srgbClr val="FFFFFF"/>
          </a:solidFill>
          <a:ln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" y="1481328"/>
            <a:ext cx="576072" cy="576072"/>
          </a:xfrm>
          <a:prstGeom prst="ellipse">
            <a:avLst/>
          </a:prstGeom>
          <a:solidFill>
            <a:srgbClr val="087F8C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481328"/>
            <a:ext cx="576072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5064" y="1472184"/>
            <a:ext cx="211226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1">
                <a:solidFill>
                  <a:srgbClr val="17324D"/>
                </a:solidFill>
                <a:latin typeface="Arial"/>
              </a:rPr>
              <a:t>Reusable AES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5064" y="1956816"/>
            <a:ext cx="2112264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>
                <a:solidFill>
                  <a:srgbClr val="607080"/>
                </a:solidFill>
                <a:latin typeface="Arial"/>
              </a:rPr>
              <a:t>Large standalone area and power reduction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17136" y="1225296"/>
            <a:ext cx="3255264" cy="1719072"/>
          </a:xfrm>
          <a:prstGeom prst="roundRect">
            <a:avLst/>
          </a:prstGeom>
          <a:solidFill>
            <a:srgbClr val="FFFFFF"/>
          </a:solidFill>
          <a:ln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36592" y="1481328"/>
            <a:ext cx="576072" cy="576072"/>
          </a:xfrm>
          <a:prstGeom prst="ellipse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1481328"/>
            <a:ext cx="576072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8968" y="1472184"/>
            <a:ext cx="211226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1">
                <a:solidFill>
                  <a:srgbClr val="17324D"/>
                </a:solidFill>
                <a:latin typeface="Arial"/>
              </a:rPr>
              <a:t>Complete SoC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58968" y="1956816"/>
            <a:ext cx="2112264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>
                <a:solidFill>
                  <a:srgbClr val="607080"/>
                </a:solidFill>
                <a:latin typeface="Arial"/>
              </a:rPr>
              <a:t>CPU + AES-CTR + I/O + DMA + power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225296"/>
            <a:ext cx="3255264" cy="1719072"/>
          </a:xfrm>
          <a:prstGeom prst="roundRect">
            <a:avLst/>
          </a:prstGeom>
          <a:solidFill>
            <a:srgbClr val="FFFFFF"/>
          </a:solidFill>
          <a:ln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40496" y="1481328"/>
            <a:ext cx="576072" cy="576072"/>
          </a:xfrm>
          <a:prstGeom prst="ellipse">
            <a:avLst/>
          </a:prstGeom>
          <a:solidFill>
            <a:srgbClr val="D6A23B"/>
          </a:solidFill>
          <a:ln>
            <a:solidFill>
              <a:srgbClr val="D6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0496" y="1481328"/>
            <a:ext cx="576072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1472184"/>
            <a:ext cx="211226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1">
                <a:solidFill>
                  <a:srgbClr val="17324D"/>
                </a:solidFill>
                <a:latin typeface="Arial"/>
              </a:rPr>
              <a:t>Two control paths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1956816"/>
            <a:ext cx="2112264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>
                <a:solidFill>
                  <a:srgbClr val="607080"/>
                </a:solidFill>
                <a:latin typeface="Arial"/>
              </a:rPr>
              <a:t>MMIO and custom security ISA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438144"/>
            <a:ext cx="5257800" cy="1719072"/>
          </a:xfrm>
          <a:prstGeom prst="roundRect">
            <a:avLst/>
          </a:prstGeom>
          <a:solidFill>
            <a:srgbClr val="FFFFFF"/>
          </a:solidFill>
          <a:ln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2688" y="3694176"/>
            <a:ext cx="576072" cy="576072"/>
          </a:xfrm>
          <a:prstGeom prst="ellipse">
            <a:avLst/>
          </a:prstGeom>
          <a:solidFill>
            <a:srgbClr val="B6423C"/>
          </a:solidFill>
          <a:ln>
            <a:solidFill>
              <a:srgbClr val="B6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3694176"/>
            <a:ext cx="576072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55064" y="3685031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1">
                <a:solidFill>
                  <a:srgbClr val="17324D"/>
                </a:solidFill>
                <a:latin typeface="Arial"/>
              </a:rPr>
              <a:t>End-to-end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55064" y="4169663"/>
            <a:ext cx="411480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>
                <a:solidFill>
                  <a:srgbClr val="607080"/>
                </a:solidFill>
                <a:latin typeface="Arial"/>
              </a:rPr>
              <a:t>RTL ↔ C reference ↔ UART ↔ decrypt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36792" y="3438144"/>
            <a:ext cx="5257800" cy="1719072"/>
          </a:xfrm>
          <a:prstGeom prst="roundRect">
            <a:avLst/>
          </a:prstGeom>
          <a:solidFill>
            <a:srgbClr val="FFFFFF"/>
          </a:solidFill>
          <a:ln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56248" y="3694176"/>
            <a:ext cx="576072" cy="576072"/>
          </a:xfrm>
          <a:prstGeom prst="ellipse">
            <a:avLst/>
          </a:prstGeom>
          <a:solidFill>
            <a:srgbClr val="2D7D5B"/>
          </a:solidFill>
          <a:ln>
            <a:solidFill>
              <a:srgbClr val="2D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3694176"/>
            <a:ext cx="576072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78624" y="3685031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1">
                <a:solidFill>
                  <a:srgbClr val="17324D"/>
                </a:solidFill>
                <a:latin typeface="Arial"/>
              </a:rPr>
              <a:t>Implementation 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78624" y="4169663"/>
            <a:ext cx="411480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>
                <a:solidFill>
                  <a:srgbClr val="607080"/>
                </a:solidFill>
                <a:latin typeface="Arial"/>
              </a:rPr>
              <a:t>Questa + Quartus + Genus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38528" y="5577840"/>
            <a:ext cx="8302752" cy="566928"/>
          </a:xfrm>
          <a:prstGeom prst="round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21408" y="5678424"/>
            <a:ext cx="793699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A publishable AES microarchitecture becomes a verified, thesis-ready security processor.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ep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75488"/>
            <a:ext cx="786384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371600"/>
            <a:ext cx="1051560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34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2340864"/>
            <a:ext cx="781812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200" b="1">
                <a:solidFill>
                  <a:srgbClr val="D6A23B"/>
                </a:solidFill>
                <a:latin typeface="Arial"/>
              </a:rPr>
              <a:t>Questions and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193792" y="3090672"/>
            <a:ext cx="1810512" cy="54864"/>
          </a:xfrm>
          <a:prstGeom prst="rect">
            <a:avLst/>
          </a:prstGeom>
          <a:solidFill>
            <a:srgbClr val="B6423C"/>
          </a:solidFill>
          <a:ln>
            <a:solidFill>
              <a:srgbClr val="B64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3493008"/>
            <a:ext cx="10040112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400" b="1">
                <a:solidFill>
                  <a:srgbClr val="D5E3EB"/>
                </a:solidFill>
                <a:latin typeface="Arial"/>
              </a:rPr>
              <a:t>Iterative AES-128 · Five-stage RISC-V · AES-CTR · Custom ISA · UVM · FPGA/ASIC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4828032"/>
            <a:ext cx="747979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Varada Inamdar  |  MIS 712438020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5276088"/>
            <a:ext cx="747979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300" b="0">
                <a:solidFill>
                  <a:srgbClr val="D5E3EB"/>
                </a:solidFill>
                <a:latin typeface="Arial"/>
              </a:rPr>
              <a:t>COEP Technological University, Pune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6144768"/>
            <a:ext cx="989380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D6A23B"/>
                </a:solidFill>
                <a:latin typeface="Arial"/>
              </a:rPr>
              <a:t>Design verified from sensor input to encrypted UART output and reference-model recovery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Verification of a Lightweight RISC-V-Based IoT Security Processor with Iterative Hardware-Reusable AES 128</dc:title>
  <dc:subject>M.Tech Thesis Defense Presentation</dc:subject>
  <dc:creator>Varada Inamdar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